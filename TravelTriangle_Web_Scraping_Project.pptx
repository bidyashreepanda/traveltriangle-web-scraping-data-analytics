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61838" cy="6858000"/>
  <p:notesSz cx="6858000" cy="121618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26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Average Price (₹)</c:v>
                </c:pt>
              </c:strCache>
            </c:strRef>
          </c:tx>
          <c:spPr>
            <a:solidFill>
              <a:srgbClr val="065A82"/>
            </a:solidFill>
            <a:effectLst/>
          </c:spPr>
          <c:invertIfNegative val="0"/>
          <c:dLbls>
            <c:numFmt formatCode="#,##0" sourceLinked="0"/>
            <c:spPr>
              <a:noFill/>
              <a:ln>
                <a:noFill/>
              </a:ln>
              <a:effectLst/>
            </c:spPr>
            <c:txPr>
              <a:bodyPr/>
              <a:lstStyle/>
              <a:p>
                <a:pPr>
                  <a:defRPr sz="1100" b="0" i="0" u="none" strike="noStrike">
                    <a:solidFill>
                      <a:srgbClr val="2129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Uttarakhand</c:v>
                </c:pt>
                <c:pt idx="1">
                  <c:v>India</c:v>
                </c:pt>
                <c:pt idx="2">
                  <c:v>Rajasthan</c:v>
                </c:pt>
                <c:pt idx="3">
                  <c:v>Himachal</c:v>
                </c:pt>
                <c:pt idx="4">
                  <c:v>Andaman</c:v>
                </c:pt>
                <c:pt idx="5">
                  <c:v>Sikkim</c:v>
                </c:pt>
              </c:strCache>
            </c:strRef>
          </c:cat>
          <c:val>
            <c:numRef>
              <c:f>Sheet1!$B$2:$B$7</c:f>
              <c:numCache>
                <c:formatCode>General</c:formatCode>
                <c:ptCount val="6"/>
                <c:pt idx="0">
                  <c:v>10104</c:v>
                </c:pt>
                <c:pt idx="1">
                  <c:v>16185</c:v>
                </c:pt>
                <c:pt idx="2">
                  <c:v>18428</c:v>
                </c:pt>
                <c:pt idx="3">
                  <c:v>21100</c:v>
                </c:pt>
                <c:pt idx="4">
                  <c:v>21989</c:v>
                </c:pt>
                <c:pt idx="5">
                  <c:v>25462</c:v>
                </c:pt>
              </c:numCache>
            </c:numRef>
          </c:val>
          <c:extLst>
            <c:ext xmlns:c16="http://schemas.microsoft.com/office/drawing/2014/chart" uri="{C3380CC4-5D6E-409C-BE32-E72D297353CC}">
              <c16:uniqueId val="{00000000-33F6-4693-9B9C-87254CC4AF0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73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2E8ED"/>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Packages</c:v>
                </c:pt>
              </c:strCache>
            </c:strRef>
          </c:tx>
          <c:spPr>
            <a:solidFill>
              <a:srgbClr val="1C7293"/>
            </a:solidFill>
            <a:effectLst/>
          </c:spPr>
          <c:invertIfNegative val="0"/>
          <c:dLbls>
            <c:numFmt formatCode="#,##0" sourceLinked="0"/>
            <c:spPr>
              <a:noFill/>
              <a:ln>
                <a:noFill/>
              </a:ln>
              <a:effectLst/>
            </c:spPr>
            <c:txPr>
              <a:bodyPr/>
              <a:lstStyle/>
              <a:p>
                <a:pPr>
                  <a:defRPr sz="1000" b="0" i="0" u="none" strike="noStrike">
                    <a:solidFill>
                      <a:srgbClr val="2129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India</c:v>
                </c:pt>
                <c:pt idx="1">
                  <c:v>Rajasthan</c:v>
                </c:pt>
                <c:pt idx="2">
                  <c:v>Himachal</c:v>
                </c:pt>
                <c:pt idx="3">
                  <c:v>Andaman</c:v>
                </c:pt>
                <c:pt idx="4">
                  <c:v>Sikkim</c:v>
                </c:pt>
                <c:pt idx="5">
                  <c:v>Uttarakhand</c:v>
                </c:pt>
              </c:strCache>
            </c:strRef>
          </c:cat>
          <c:val>
            <c:numRef>
              <c:f>Sheet1!$B$2:$B$7</c:f>
              <c:numCache>
                <c:formatCode>General</c:formatCode>
                <c:ptCount val="6"/>
                <c:pt idx="0">
                  <c:v>7</c:v>
                </c:pt>
                <c:pt idx="1">
                  <c:v>7</c:v>
                </c:pt>
                <c:pt idx="2">
                  <c:v>7</c:v>
                </c:pt>
                <c:pt idx="3">
                  <c:v>7</c:v>
                </c:pt>
                <c:pt idx="4">
                  <c:v>7</c:v>
                </c:pt>
                <c:pt idx="5">
                  <c:v>7</c:v>
                </c:pt>
              </c:numCache>
            </c:numRef>
          </c:val>
          <c:extLst>
            <c:ext xmlns:c16="http://schemas.microsoft.com/office/drawing/2014/chart" uri="{C3380CC4-5D6E-409C-BE32-E72D297353CC}">
              <c16:uniqueId val="{00000000-77A2-4062-B1FE-3C9FD266101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B27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Days</c:v>
                </c:pt>
              </c:strCache>
            </c:strRef>
          </c:tx>
          <c:spPr>
            <a:solidFill>
              <a:srgbClr val="F2B134"/>
            </a:solidFill>
            <a:effectLst/>
          </c:spPr>
          <c:invertIfNegative val="0"/>
          <c:dLbls>
            <c:numFmt formatCode="0.0" sourceLinked="0"/>
            <c:spPr>
              <a:noFill/>
              <a:ln>
                <a:noFill/>
              </a:ln>
              <a:effectLst/>
            </c:spPr>
            <c:txPr>
              <a:bodyPr/>
              <a:lstStyle/>
              <a:p>
                <a:pPr>
                  <a:defRPr sz="1000" b="0" i="0" u="none" strike="noStrike">
                    <a:solidFill>
                      <a:srgbClr val="2129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India</c:v>
                </c:pt>
                <c:pt idx="1">
                  <c:v>Rajasthan</c:v>
                </c:pt>
                <c:pt idx="2">
                  <c:v>Himachal</c:v>
                </c:pt>
                <c:pt idx="3">
                  <c:v>Andaman</c:v>
                </c:pt>
                <c:pt idx="4">
                  <c:v>Sikkim</c:v>
                </c:pt>
                <c:pt idx="5">
                  <c:v>Uttarakhand</c:v>
                </c:pt>
              </c:strCache>
            </c:strRef>
          </c:cat>
          <c:val>
            <c:numRef>
              <c:f>Sheet1!$B$2:$B$7</c:f>
              <c:numCache>
                <c:formatCode>General</c:formatCode>
                <c:ptCount val="6"/>
                <c:pt idx="0">
                  <c:v>4.29</c:v>
                </c:pt>
                <c:pt idx="1">
                  <c:v>5.57</c:v>
                </c:pt>
                <c:pt idx="2">
                  <c:v>6.57</c:v>
                </c:pt>
                <c:pt idx="3">
                  <c:v>5.71</c:v>
                </c:pt>
                <c:pt idx="4">
                  <c:v>5.43</c:v>
                </c:pt>
                <c:pt idx="5">
                  <c:v>3.7</c:v>
                </c:pt>
              </c:numCache>
            </c:numRef>
          </c:val>
          <c:extLst>
            <c:ext xmlns:c16="http://schemas.microsoft.com/office/drawing/2014/chart" uri="{C3380CC4-5D6E-409C-BE32-E72D297353CC}">
              <c16:uniqueId val="{00000000-FB00-4CA9-8596-7911013750F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B27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Price (₹)</c:v>
                </c:pt>
              </c:strCache>
            </c:strRef>
          </c:tx>
          <c:spPr>
            <a:ln>
              <a:noFill/>
            </a:ln>
            <a:effectLst/>
          </c:spPr>
          <c:marker>
            <c:symbol val="circle"/>
            <c:size val="7"/>
            <c:spPr>
              <a:solidFill>
                <a:srgbClr val="065A82"/>
              </a:solidFill>
              <a:ln w="9525" cap="flat">
                <a:solidFill>
                  <a:srgbClr val="065A82"/>
                </a:solidFill>
                <a:prstDash val="solid"/>
                <a:round/>
              </a:ln>
              <a:effectLst/>
            </c:spPr>
          </c:marker>
          <c:xVal>
            <c:numRef>
              <c:f>Sheet1!$A$2:$A$21</c:f>
              <c:numCache>
                <c:formatCode>General</c:formatCode>
                <c:ptCount val="20"/>
                <c:pt idx="0">
                  <c:v>2</c:v>
                </c:pt>
                <c:pt idx="1">
                  <c:v>3</c:v>
                </c:pt>
                <c:pt idx="2">
                  <c:v>3</c:v>
                </c:pt>
                <c:pt idx="3">
                  <c:v>4</c:v>
                </c:pt>
                <c:pt idx="4">
                  <c:v>4</c:v>
                </c:pt>
                <c:pt idx="5">
                  <c:v>5</c:v>
                </c:pt>
                <c:pt idx="6">
                  <c:v>5</c:v>
                </c:pt>
                <c:pt idx="7">
                  <c:v>6</c:v>
                </c:pt>
                <c:pt idx="8">
                  <c:v>6</c:v>
                </c:pt>
                <c:pt idx="9">
                  <c:v>7</c:v>
                </c:pt>
                <c:pt idx="10">
                  <c:v>7</c:v>
                </c:pt>
                <c:pt idx="11">
                  <c:v>8</c:v>
                </c:pt>
                <c:pt idx="12">
                  <c:v>6</c:v>
                </c:pt>
                <c:pt idx="13">
                  <c:v>5</c:v>
                </c:pt>
                <c:pt idx="14">
                  <c:v>4</c:v>
                </c:pt>
                <c:pt idx="15">
                  <c:v>3</c:v>
                </c:pt>
                <c:pt idx="16">
                  <c:v>7</c:v>
                </c:pt>
                <c:pt idx="17">
                  <c:v>8</c:v>
                </c:pt>
                <c:pt idx="18">
                  <c:v>2</c:v>
                </c:pt>
                <c:pt idx="19">
                  <c:v>9</c:v>
                </c:pt>
              </c:numCache>
            </c:numRef>
          </c:xVal>
          <c:yVal>
            <c:numRef>
              <c:f>Sheet1!$B$2:$B$21</c:f>
              <c:numCache>
                <c:formatCode>General</c:formatCode>
                <c:ptCount val="20"/>
                <c:pt idx="0">
                  <c:v>9500</c:v>
                </c:pt>
                <c:pt idx="1">
                  <c:v>9999</c:v>
                </c:pt>
                <c:pt idx="2">
                  <c:v>10500</c:v>
                </c:pt>
                <c:pt idx="3">
                  <c:v>7999</c:v>
                </c:pt>
                <c:pt idx="4">
                  <c:v>14500</c:v>
                </c:pt>
                <c:pt idx="5">
                  <c:v>15599</c:v>
                </c:pt>
                <c:pt idx="6">
                  <c:v>22000</c:v>
                </c:pt>
                <c:pt idx="7">
                  <c:v>25000</c:v>
                </c:pt>
                <c:pt idx="8">
                  <c:v>22999</c:v>
                </c:pt>
                <c:pt idx="9">
                  <c:v>30240</c:v>
                </c:pt>
                <c:pt idx="10">
                  <c:v>28500</c:v>
                </c:pt>
                <c:pt idx="11">
                  <c:v>33200</c:v>
                </c:pt>
                <c:pt idx="12">
                  <c:v>35500</c:v>
                </c:pt>
                <c:pt idx="13">
                  <c:v>18500</c:v>
                </c:pt>
                <c:pt idx="14">
                  <c:v>12500</c:v>
                </c:pt>
                <c:pt idx="15">
                  <c:v>8500</c:v>
                </c:pt>
                <c:pt idx="16">
                  <c:v>37999</c:v>
                </c:pt>
                <c:pt idx="17">
                  <c:v>38500</c:v>
                </c:pt>
                <c:pt idx="18">
                  <c:v>2500</c:v>
                </c:pt>
                <c:pt idx="19">
                  <c:v>34500</c:v>
                </c:pt>
              </c:numCache>
            </c:numRef>
          </c:yVal>
          <c:smooth val="0"/>
          <c:extLst>
            <c:ext xmlns:c16="http://schemas.microsoft.com/office/drawing/2014/chart" uri="{C3380CC4-5D6E-409C-BE32-E72D297353CC}">
              <c16:uniqueId val="{00000000-2BE3-419F-8F85-B9D12B333D16}"/>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b="0" i="0" u="none" strike="noStrike">
                    <a:solidFill>
                      <a:srgbClr val="1B2733"/>
                    </a:solidFill>
                    <a:latin typeface="Arial"/>
                  </a:defRPr>
                </a:pPr>
                <a:r>
                  <a:rPr lang="en-IN" b="0" i="0" u="none" strike="noStrike">
                    <a:solidFill>
                      <a:srgbClr val="1B2733"/>
                    </a:solidFill>
                    <a:latin typeface="Arial"/>
                  </a:rPr>
                  <a:t>Trip Duration (Days)</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C6B78"/>
                </a:solidFill>
                <a:latin typeface="Arial"/>
              </a:defRPr>
            </a:pPr>
            <a:endParaRPr lang="en-US"/>
          </a:p>
        </c:txPr>
        <c:crossAx val="2094734552"/>
        <c:crosses val="autoZero"/>
        <c:crossBetween val="midCat"/>
      </c:valAx>
      <c:valAx>
        <c:axId val="2094734552"/>
        <c:scaling>
          <c:orientation val="minMax"/>
        </c:scaling>
        <c:delete val="0"/>
        <c:axPos val="l"/>
        <c:majorGridlines>
          <c:spPr>
            <a:ln w="9525" cap="flat">
              <a:solidFill>
                <a:srgbClr val="E2E8ED"/>
              </a:solidFill>
              <a:prstDash val="solid"/>
              <a:round/>
            </a:ln>
          </c:spPr>
        </c:majorGridlines>
        <c:title>
          <c:tx>
            <c:rich>
              <a:bodyPr/>
              <a:lstStyle/>
              <a:p>
                <a:pPr>
                  <a:defRPr b="0" i="0" u="none" strike="noStrike">
                    <a:solidFill>
                      <a:srgbClr val="1B2733"/>
                    </a:solidFill>
                    <a:latin typeface="Arial"/>
                  </a:defRPr>
                </a:pPr>
                <a:r>
                  <a:rPr lang="en-IN" b="0" i="0" u="none" strike="noStrike">
                    <a:solidFill>
                      <a:srgbClr val="1B2733"/>
                    </a:solidFill>
                    <a:latin typeface="Arial"/>
                  </a:rPr>
                  <a:t>Package Price (₹)</a:t>
                </a:r>
              </a:p>
            </c:rich>
          </c:tx>
          <c:overlay val="0"/>
        </c:title>
        <c:numFmt formatCode="#,##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C6B78"/>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9222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65A82">
              <a:alpha val="45000"/>
            </a:srgbClr>
          </a:solidFill>
          <a:ln/>
        </p:spPr>
      </p:sp>
      <p:sp>
        <p:nvSpPr>
          <p:cNvPr id="3" name="Shape 1"/>
          <p:cNvSpPr/>
          <p:nvPr/>
        </p:nvSpPr>
        <p:spPr>
          <a:xfrm>
            <a:off x="10789920" y="4206240"/>
            <a:ext cx="3108960" cy="3108960"/>
          </a:xfrm>
          <a:prstGeom prst="ellipse">
            <a:avLst/>
          </a:prstGeom>
          <a:solidFill>
            <a:srgbClr val="1C7293">
              <a:alpha val="55000"/>
            </a:srgbClr>
          </a:solidFill>
          <a:ln/>
        </p:spPr>
      </p:sp>
      <p:sp>
        <p:nvSpPr>
          <p:cNvPr id="4" name="Shape 2"/>
          <p:cNvSpPr/>
          <p:nvPr/>
        </p:nvSpPr>
        <p:spPr>
          <a:xfrm>
            <a:off x="822960" y="1371600"/>
            <a:ext cx="914400" cy="914400"/>
          </a:xfrm>
          <a:prstGeom prst="ellipse">
            <a:avLst/>
          </a:prstGeom>
          <a:solidFill>
            <a:srgbClr val="065A82"/>
          </a:solidFill>
          <a:ln/>
        </p:spPr>
      </p:sp>
      <p:pic>
        <p:nvPicPr>
          <p:cNvPr id="5" name="Image 0" descr="/home/claude/icons/map.png"/>
          <p:cNvPicPr>
            <a:picLocks noChangeAspect="1"/>
          </p:cNvPicPr>
          <p:nvPr/>
        </p:nvPicPr>
        <p:blipFill>
          <a:blip r:embed="rId3"/>
          <a:stretch>
            <a:fillRect/>
          </a:stretch>
        </p:blipFill>
        <p:spPr>
          <a:xfrm>
            <a:off x="1060704" y="1609344"/>
            <a:ext cx="438912" cy="438912"/>
          </a:xfrm>
          <a:prstGeom prst="rect">
            <a:avLst/>
          </a:prstGeom>
        </p:spPr>
      </p:pic>
      <p:sp>
        <p:nvSpPr>
          <p:cNvPr id="6" name="Text 3"/>
          <p:cNvSpPr txBox="1"/>
          <p:nvPr/>
        </p:nvSpPr>
        <p:spPr>
          <a:xfrm>
            <a:off x="822960" y="2514600"/>
            <a:ext cx="9144000" cy="365760"/>
          </a:xfrm>
          <a:prstGeom prst="rect">
            <a:avLst/>
          </a:prstGeom>
          <a:noFill/>
          <a:ln/>
        </p:spPr>
        <p:txBody>
          <a:bodyPr wrap="square" rtlCol="0" anchor="ctr"/>
          <a:lstStyle/>
          <a:p>
            <a:pPr marL="0" indent="0">
              <a:buNone/>
            </a:pPr>
            <a:r>
              <a:rPr lang="en-US" sz="1400" b="1" kern="0" spc="200" dirty="0">
                <a:solidFill>
                  <a:srgbClr val="F2B134"/>
                </a:solidFill>
                <a:latin typeface="Calibri" pitchFamily="34" charset="0"/>
                <a:ea typeface="Calibri" pitchFamily="34" charset="-122"/>
                <a:cs typeface="Calibri" pitchFamily="34" charset="-120"/>
              </a:rPr>
              <a:t>WEB SCRAPING &amp; DATA ANALYTICS PROJECT</a:t>
            </a:r>
            <a:endParaRPr lang="en-US" sz="1400" dirty="0"/>
          </a:p>
        </p:txBody>
      </p:sp>
      <p:sp>
        <p:nvSpPr>
          <p:cNvPr id="7" name="Text 4"/>
          <p:cNvSpPr txBox="1"/>
          <p:nvPr/>
        </p:nvSpPr>
        <p:spPr>
          <a:xfrm>
            <a:off x="777240" y="2834640"/>
            <a:ext cx="10058400" cy="11887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TravelTriangle Tour Package Insights</a:t>
            </a:r>
            <a:endParaRPr lang="en-US" sz="4400" dirty="0"/>
          </a:p>
        </p:txBody>
      </p:sp>
      <p:sp>
        <p:nvSpPr>
          <p:cNvPr id="8" name="Text 5"/>
          <p:cNvSpPr txBox="1"/>
          <p:nvPr/>
        </p:nvSpPr>
        <p:spPr>
          <a:xfrm>
            <a:off x="822960" y="3977640"/>
            <a:ext cx="8961120" cy="64008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From raw HTML to business insights: scraping, cleaning, and analyzing India's holiday-package market</a:t>
            </a:r>
            <a:endParaRPr lang="en-US" sz="1600" dirty="0"/>
          </a:p>
        </p:txBody>
      </p:sp>
      <p:sp>
        <p:nvSpPr>
          <p:cNvPr id="9" name="Shape 6"/>
          <p:cNvSpPr/>
          <p:nvPr/>
        </p:nvSpPr>
        <p:spPr>
          <a:xfrm>
            <a:off x="822960" y="4709160"/>
            <a:ext cx="2011680" cy="0"/>
          </a:xfrm>
          <a:prstGeom prst="line">
            <a:avLst/>
          </a:prstGeom>
          <a:noFill/>
          <a:ln w="31750">
            <a:solidFill>
              <a:srgbClr val="F2B134"/>
            </a:solidFill>
            <a:prstDash val="solid"/>
          </a:ln>
        </p:spPr>
      </p:sp>
      <p:sp>
        <p:nvSpPr>
          <p:cNvPr id="10" name="Text 7"/>
          <p:cNvSpPr txBox="1"/>
          <p:nvPr/>
        </p:nvSpPr>
        <p:spPr>
          <a:xfrm>
            <a:off x="822960" y="4892040"/>
            <a:ext cx="8229600" cy="365760"/>
          </a:xfrm>
          <a:prstGeom prst="rect">
            <a:avLst/>
          </a:prstGeom>
          <a:noFill/>
          <a:ln/>
        </p:spPr>
        <p:txBody>
          <a:bodyPr wrap="square" rtlCol="0" anchor="ctr"/>
          <a:lstStyle/>
          <a:p>
            <a:pPr marL="0" indent="0">
              <a:buNone/>
            </a:pPr>
            <a:r>
              <a:rPr lang="en-US" sz="1300" dirty="0">
                <a:solidFill>
                  <a:srgbClr val="9FB3C8"/>
                </a:solidFill>
                <a:latin typeface="Calibri" pitchFamily="34" charset="0"/>
                <a:ea typeface="Calibri" pitchFamily="34" charset="-122"/>
                <a:cs typeface="Calibri" pitchFamily="34" charset="-120"/>
              </a:rPr>
              <a:t>End-to-End Data Analytics Project  •  Python  •  Pandas  •  Power BI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Project Objective</a:t>
            </a:r>
            <a:endParaRPr lang="en-US" sz="3200" dirty="0"/>
          </a:p>
        </p:txBody>
      </p:sp>
      <p:sp>
        <p:nvSpPr>
          <p:cNvPr id="3" name="Shape 1"/>
          <p:cNvSpPr/>
          <p:nvPr/>
        </p:nvSpPr>
        <p:spPr>
          <a:xfrm>
            <a:off x="548640" y="1051560"/>
            <a:ext cx="6492240" cy="18288"/>
          </a:xfrm>
          <a:prstGeom prst="rect">
            <a:avLst/>
          </a:prstGeom>
          <a:solidFill>
            <a:srgbClr val="F4F7F9"/>
          </a:solidFill>
          <a:ln/>
        </p:spPr>
      </p:sp>
      <p:sp>
        <p:nvSpPr>
          <p:cNvPr id="4" name="Text 2"/>
          <p:cNvSpPr txBox="1"/>
          <p:nvPr/>
        </p:nvSpPr>
        <p:spPr>
          <a:xfrm>
            <a:off x="548640" y="1371600"/>
            <a:ext cx="6400800" cy="1828800"/>
          </a:xfrm>
          <a:prstGeom prst="rect">
            <a:avLst/>
          </a:prstGeom>
          <a:noFill/>
          <a:ln/>
        </p:spPr>
        <p:txBody>
          <a:bodyPr wrap="square" rtlCol="0" anchor="ctr"/>
          <a:lstStyle/>
          <a:p>
            <a:pPr marL="0" indent="0">
              <a:lnSpc>
                <a:spcPct val="125000"/>
              </a:lnSpc>
              <a:buNone/>
            </a:pPr>
            <a:r>
              <a:rPr lang="en-US" sz="1500" dirty="0">
                <a:solidFill>
                  <a:srgbClr val="1B2733"/>
                </a:solidFill>
                <a:latin typeface="Calibri" pitchFamily="34" charset="0"/>
                <a:ea typeface="Calibri" pitchFamily="34" charset="-122"/>
                <a:cs typeface="Calibri" pitchFamily="34" charset="-120"/>
              </a:rPr>
              <a:t>Extract meaningful, real-world data through web scraping, transform it into a structured dataset, and uncover actionable business insights about India's tour-package market — turning raw web content into decisions a travel business can act on.</a:t>
            </a:r>
            <a:endParaRPr lang="en-US" sz="1500" dirty="0"/>
          </a:p>
        </p:txBody>
      </p:sp>
      <p:sp>
        <p:nvSpPr>
          <p:cNvPr id="5" name="Shape 3"/>
          <p:cNvSpPr/>
          <p:nvPr/>
        </p:nvSpPr>
        <p:spPr>
          <a:xfrm>
            <a:off x="548640" y="3429000"/>
            <a:ext cx="146304" cy="146304"/>
          </a:xfrm>
          <a:prstGeom prst="ellipse">
            <a:avLst/>
          </a:prstGeom>
          <a:solidFill>
            <a:srgbClr val="F2B134"/>
          </a:solidFill>
          <a:ln/>
        </p:spPr>
      </p:sp>
      <p:sp>
        <p:nvSpPr>
          <p:cNvPr id="6" name="Text 4"/>
          <p:cNvSpPr txBox="1"/>
          <p:nvPr/>
        </p:nvSpPr>
        <p:spPr>
          <a:xfrm>
            <a:off x="868680" y="3300984"/>
            <a:ext cx="6126480" cy="384048"/>
          </a:xfrm>
          <a:prstGeom prst="rect">
            <a:avLst/>
          </a:prstGeom>
          <a:noFill/>
          <a:ln/>
        </p:spPr>
        <p:txBody>
          <a:bodyPr wrap="square" rtlCol="0" anchor="ctr"/>
          <a:lstStyle/>
          <a:p>
            <a:pPr marL="0" indent="0">
              <a:buNone/>
            </a:pPr>
            <a:r>
              <a:rPr lang="en-US" sz="1300" dirty="0">
                <a:solidFill>
                  <a:srgbClr val="1B2733"/>
                </a:solidFill>
                <a:latin typeface="Calibri" pitchFamily="34" charset="0"/>
                <a:ea typeface="Calibri" pitchFamily="34" charset="-122"/>
                <a:cs typeface="Calibri" pitchFamily="34" charset="-120"/>
              </a:rPr>
              <a:t>Collect live tour-package listings directly from traveltriangle.com</a:t>
            </a:r>
            <a:endParaRPr lang="en-US" sz="1300" dirty="0"/>
          </a:p>
        </p:txBody>
      </p:sp>
      <p:sp>
        <p:nvSpPr>
          <p:cNvPr id="7" name="Shape 5"/>
          <p:cNvSpPr/>
          <p:nvPr/>
        </p:nvSpPr>
        <p:spPr>
          <a:xfrm>
            <a:off x="548640" y="3959352"/>
            <a:ext cx="146304" cy="146304"/>
          </a:xfrm>
          <a:prstGeom prst="ellipse">
            <a:avLst/>
          </a:prstGeom>
          <a:solidFill>
            <a:srgbClr val="F2B134"/>
          </a:solidFill>
          <a:ln/>
        </p:spPr>
      </p:sp>
      <p:sp>
        <p:nvSpPr>
          <p:cNvPr id="8" name="Text 6"/>
          <p:cNvSpPr txBox="1"/>
          <p:nvPr/>
        </p:nvSpPr>
        <p:spPr>
          <a:xfrm>
            <a:off x="868680" y="3831336"/>
            <a:ext cx="6126480" cy="384048"/>
          </a:xfrm>
          <a:prstGeom prst="rect">
            <a:avLst/>
          </a:prstGeom>
          <a:noFill/>
          <a:ln/>
        </p:spPr>
        <p:txBody>
          <a:bodyPr wrap="square" rtlCol="0" anchor="ctr"/>
          <a:lstStyle/>
          <a:p>
            <a:pPr marL="0" indent="0">
              <a:buNone/>
            </a:pPr>
            <a:r>
              <a:rPr lang="en-US" sz="1300" dirty="0">
                <a:solidFill>
                  <a:srgbClr val="1B2733"/>
                </a:solidFill>
                <a:latin typeface="Calibri" pitchFamily="34" charset="0"/>
                <a:ea typeface="Calibri" pitchFamily="34" charset="-122"/>
                <a:cs typeface="Calibri" pitchFamily="34" charset="-120"/>
              </a:rPr>
              <a:t>Clean and structure the scraped data into an analysis-ready dataset</a:t>
            </a:r>
            <a:endParaRPr lang="en-US" sz="1300" dirty="0"/>
          </a:p>
        </p:txBody>
      </p:sp>
      <p:sp>
        <p:nvSpPr>
          <p:cNvPr id="9" name="Shape 7"/>
          <p:cNvSpPr/>
          <p:nvPr/>
        </p:nvSpPr>
        <p:spPr>
          <a:xfrm>
            <a:off x="548640" y="4489704"/>
            <a:ext cx="146304" cy="146304"/>
          </a:xfrm>
          <a:prstGeom prst="ellipse">
            <a:avLst/>
          </a:prstGeom>
          <a:solidFill>
            <a:srgbClr val="F2B134"/>
          </a:solidFill>
          <a:ln/>
        </p:spPr>
      </p:sp>
      <p:sp>
        <p:nvSpPr>
          <p:cNvPr id="10" name="Text 8"/>
          <p:cNvSpPr txBox="1"/>
          <p:nvPr/>
        </p:nvSpPr>
        <p:spPr>
          <a:xfrm>
            <a:off x="868680" y="4361688"/>
            <a:ext cx="6126480" cy="384048"/>
          </a:xfrm>
          <a:prstGeom prst="rect">
            <a:avLst/>
          </a:prstGeom>
          <a:noFill/>
          <a:ln/>
        </p:spPr>
        <p:txBody>
          <a:bodyPr wrap="square" rtlCol="0" anchor="ctr"/>
          <a:lstStyle/>
          <a:p>
            <a:pPr marL="0" indent="0">
              <a:buNone/>
            </a:pPr>
            <a:r>
              <a:rPr lang="en-US" sz="1300" dirty="0">
                <a:solidFill>
                  <a:srgbClr val="1B2733"/>
                </a:solidFill>
                <a:latin typeface="Calibri" pitchFamily="34" charset="0"/>
                <a:ea typeface="Calibri" pitchFamily="34" charset="-122"/>
                <a:cs typeface="Calibri" pitchFamily="34" charset="-120"/>
              </a:rPr>
              <a:t>Explore pricing, duration, and destination patterns</a:t>
            </a:r>
            <a:endParaRPr lang="en-US" sz="1300" dirty="0"/>
          </a:p>
        </p:txBody>
      </p:sp>
      <p:sp>
        <p:nvSpPr>
          <p:cNvPr id="11" name="Shape 9"/>
          <p:cNvSpPr/>
          <p:nvPr/>
        </p:nvSpPr>
        <p:spPr>
          <a:xfrm>
            <a:off x="548640" y="5020056"/>
            <a:ext cx="146304" cy="146304"/>
          </a:xfrm>
          <a:prstGeom prst="ellipse">
            <a:avLst/>
          </a:prstGeom>
          <a:solidFill>
            <a:srgbClr val="F2B134"/>
          </a:solidFill>
          <a:ln/>
        </p:spPr>
      </p:sp>
      <p:sp>
        <p:nvSpPr>
          <p:cNvPr id="12" name="Text 10"/>
          <p:cNvSpPr txBox="1"/>
          <p:nvPr/>
        </p:nvSpPr>
        <p:spPr>
          <a:xfrm>
            <a:off x="868680" y="4892040"/>
            <a:ext cx="6126480" cy="384048"/>
          </a:xfrm>
          <a:prstGeom prst="rect">
            <a:avLst/>
          </a:prstGeom>
          <a:noFill/>
          <a:ln/>
        </p:spPr>
        <p:txBody>
          <a:bodyPr wrap="square" rtlCol="0" anchor="ctr"/>
          <a:lstStyle/>
          <a:p>
            <a:pPr marL="0" indent="0">
              <a:buNone/>
            </a:pPr>
            <a:r>
              <a:rPr lang="en-US" sz="1300" dirty="0">
                <a:solidFill>
                  <a:srgbClr val="1B2733"/>
                </a:solidFill>
                <a:latin typeface="Calibri" pitchFamily="34" charset="0"/>
                <a:ea typeface="Calibri" pitchFamily="34" charset="-122"/>
                <a:cs typeface="Calibri" pitchFamily="34" charset="-120"/>
              </a:rPr>
              <a:t>Translate findings into recommendations for a travel business</a:t>
            </a:r>
            <a:endParaRPr lang="en-US" sz="1300" dirty="0"/>
          </a:p>
        </p:txBody>
      </p:sp>
      <p:sp>
        <p:nvSpPr>
          <p:cNvPr id="13" name="Shape 11"/>
          <p:cNvSpPr/>
          <p:nvPr/>
        </p:nvSpPr>
        <p:spPr>
          <a:xfrm>
            <a:off x="7406640" y="1371600"/>
            <a:ext cx="4206240" cy="4572000"/>
          </a:xfrm>
          <a:prstGeom prst="roundRect">
            <a:avLst>
              <a:gd name="adj" fmla="val 2609"/>
            </a:avLst>
          </a:prstGeom>
          <a:solidFill>
            <a:srgbClr val="21295C"/>
          </a:solidFill>
          <a:ln/>
        </p:spPr>
      </p:sp>
      <p:sp>
        <p:nvSpPr>
          <p:cNvPr id="14" name="Text 12"/>
          <p:cNvSpPr txBox="1"/>
          <p:nvPr/>
        </p:nvSpPr>
        <p:spPr>
          <a:xfrm>
            <a:off x="7680960" y="1600200"/>
            <a:ext cx="3657600" cy="320040"/>
          </a:xfrm>
          <a:prstGeom prst="rect">
            <a:avLst/>
          </a:prstGeom>
          <a:noFill/>
          <a:ln/>
        </p:spPr>
        <p:txBody>
          <a:bodyPr wrap="square" rtlCol="0" anchor="ctr"/>
          <a:lstStyle/>
          <a:p>
            <a:pPr marL="0" indent="0">
              <a:buNone/>
            </a:pPr>
            <a:r>
              <a:rPr lang="en-US" sz="1100" b="1" kern="0" spc="150" dirty="0">
                <a:solidFill>
                  <a:srgbClr val="F2B134"/>
                </a:solidFill>
                <a:latin typeface="Calibri" pitchFamily="34" charset="0"/>
                <a:ea typeface="Calibri" pitchFamily="34" charset="-122"/>
                <a:cs typeface="Calibri" pitchFamily="34" charset="-120"/>
              </a:rPr>
              <a:t>PROJECT AT A GLANCE</a:t>
            </a:r>
            <a:endParaRPr lang="en-US" sz="1100" dirty="0"/>
          </a:p>
        </p:txBody>
      </p:sp>
      <p:sp>
        <p:nvSpPr>
          <p:cNvPr id="15" name="Text 13"/>
          <p:cNvSpPr txBox="1"/>
          <p:nvPr/>
        </p:nvSpPr>
        <p:spPr>
          <a:xfrm>
            <a:off x="7680960" y="2057400"/>
            <a:ext cx="1463040" cy="68580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6</a:t>
            </a:r>
            <a:endParaRPr lang="en-US" sz="3800" dirty="0"/>
          </a:p>
        </p:txBody>
      </p:sp>
      <p:sp>
        <p:nvSpPr>
          <p:cNvPr id="16" name="Text 14"/>
          <p:cNvSpPr txBox="1"/>
          <p:nvPr/>
        </p:nvSpPr>
        <p:spPr>
          <a:xfrm>
            <a:off x="7680960" y="2679192"/>
            <a:ext cx="3657600" cy="36576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Destinations Scraped</a:t>
            </a:r>
            <a:endParaRPr lang="en-US" sz="1200" dirty="0"/>
          </a:p>
        </p:txBody>
      </p:sp>
      <p:sp>
        <p:nvSpPr>
          <p:cNvPr id="17" name="Text 15"/>
          <p:cNvSpPr txBox="1"/>
          <p:nvPr/>
        </p:nvSpPr>
        <p:spPr>
          <a:xfrm>
            <a:off x="7680960" y="3044952"/>
            <a:ext cx="1463040" cy="68580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42</a:t>
            </a:r>
            <a:endParaRPr lang="en-US" sz="3800" dirty="0"/>
          </a:p>
        </p:txBody>
      </p:sp>
      <p:sp>
        <p:nvSpPr>
          <p:cNvPr id="18" name="Text 16"/>
          <p:cNvSpPr txBox="1"/>
          <p:nvPr/>
        </p:nvSpPr>
        <p:spPr>
          <a:xfrm>
            <a:off x="7680960" y="3666744"/>
            <a:ext cx="3657600" cy="36576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Tour Packages Analyzed</a:t>
            </a:r>
            <a:endParaRPr lang="en-US" sz="1200" dirty="0"/>
          </a:p>
        </p:txBody>
      </p:sp>
      <p:sp>
        <p:nvSpPr>
          <p:cNvPr id="19" name="Text 17"/>
          <p:cNvSpPr txBox="1"/>
          <p:nvPr/>
        </p:nvSpPr>
        <p:spPr>
          <a:xfrm>
            <a:off x="7680960" y="4032504"/>
            <a:ext cx="1463040" cy="68580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9</a:t>
            </a:r>
            <a:endParaRPr lang="en-US" sz="3800" dirty="0"/>
          </a:p>
        </p:txBody>
      </p:sp>
      <p:sp>
        <p:nvSpPr>
          <p:cNvPr id="20" name="Text 18"/>
          <p:cNvSpPr txBox="1"/>
          <p:nvPr/>
        </p:nvSpPr>
        <p:spPr>
          <a:xfrm>
            <a:off x="7680960" y="4654296"/>
            <a:ext cx="3657600" cy="36576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Structured Data Fields</a:t>
            </a:r>
            <a:endParaRPr lang="en-US" sz="1200" dirty="0"/>
          </a:p>
        </p:txBody>
      </p:sp>
      <p:sp>
        <p:nvSpPr>
          <p:cNvPr id="21" name="Text 19"/>
          <p:cNvSpPr txBox="1"/>
          <p:nvPr/>
        </p:nvSpPr>
        <p:spPr>
          <a:xfrm>
            <a:off x="7680960" y="5020056"/>
            <a:ext cx="1463040" cy="68580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1</a:t>
            </a:r>
            <a:endParaRPr lang="en-US" sz="3800" dirty="0"/>
          </a:p>
        </p:txBody>
      </p:sp>
      <p:sp>
        <p:nvSpPr>
          <p:cNvPr id="22" name="Text 20"/>
          <p:cNvSpPr txBox="1"/>
          <p:nvPr/>
        </p:nvSpPr>
        <p:spPr>
          <a:xfrm>
            <a:off x="7680960" y="5641848"/>
            <a:ext cx="3657600" cy="36576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Interactive Power BI Dashboard</a:t>
            </a:r>
            <a:endParaRPr lang="en-US" sz="1200" dirty="0"/>
          </a:p>
        </p:txBody>
      </p:sp>
      <p:sp>
        <p:nvSpPr>
          <p:cNvPr id="23" name="Text 21"/>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TravelTriangle Web Scraping &amp; Analytics Project</a:t>
            </a:r>
            <a:endParaRPr lang="en-US" sz="900" dirty="0"/>
          </a:p>
        </p:txBody>
      </p:sp>
      <p:sp>
        <p:nvSpPr>
          <p:cNvPr id="24" name="Text 22"/>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Project Workflow</a:t>
            </a:r>
            <a:endParaRPr lang="en-US" sz="3200" dirty="0"/>
          </a:p>
        </p:txBody>
      </p:sp>
      <p:sp>
        <p:nvSpPr>
          <p:cNvPr id="3" name="Text 1"/>
          <p:cNvSpPr txBox="1"/>
          <p:nvPr/>
        </p:nvSpPr>
        <p:spPr>
          <a:xfrm>
            <a:off x="548640" y="960120"/>
            <a:ext cx="9144000" cy="365760"/>
          </a:xfrm>
          <a:prstGeom prst="rect">
            <a:avLst/>
          </a:prstGeom>
          <a:noFill/>
          <a:ln/>
        </p:spPr>
        <p:txBody>
          <a:bodyPr wrap="square" rtlCol="0" anchor="ctr"/>
          <a:lstStyle/>
          <a:p>
            <a:pPr marL="0" indent="0">
              <a:buNone/>
            </a:pPr>
            <a:r>
              <a:rPr lang="en-US" sz="1300" dirty="0">
                <a:solidFill>
                  <a:srgbClr val="5C6B78"/>
                </a:solidFill>
                <a:latin typeface="Calibri" pitchFamily="34" charset="0"/>
                <a:ea typeface="Calibri" pitchFamily="34" charset="-122"/>
                <a:cs typeface="Calibri" pitchFamily="34" charset="-120"/>
              </a:rPr>
              <a:t>A structured, end-to-end pipeline from source website to business recommendations</a:t>
            </a:r>
            <a:endParaRPr lang="en-US" sz="1300" dirty="0"/>
          </a:p>
        </p:txBody>
      </p:sp>
      <p:sp>
        <p:nvSpPr>
          <p:cNvPr id="4" name="Shape 2"/>
          <p:cNvSpPr/>
          <p:nvPr/>
        </p:nvSpPr>
        <p:spPr>
          <a:xfrm>
            <a:off x="1417320" y="2537460"/>
            <a:ext cx="548640" cy="0"/>
          </a:xfrm>
          <a:prstGeom prst="line">
            <a:avLst/>
          </a:prstGeom>
          <a:noFill/>
          <a:ln w="19050">
            <a:solidFill>
              <a:srgbClr val="1C7293"/>
            </a:solidFill>
            <a:prstDash val="dash"/>
          </a:ln>
        </p:spPr>
      </p:sp>
      <p:sp>
        <p:nvSpPr>
          <p:cNvPr id="5" name="Shape 3"/>
          <p:cNvSpPr/>
          <p:nvPr/>
        </p:nvSpPr>
        <p:spPr>
          <a:xfrm>
            <a:off x="548640" y="2103120"/>
            <a:ext cx="868680" cy="868680"/>
          </a:xfrm>
          <a:prstGeom prst="ellipse">
            <a:avLst/>
          </a:prstGeom>
          <a:solidFill>
            <a:srgbClr val="065A82"/>
          </a:solidFill>
          <a:ln/>
        </p:spPr>
      </p:sp>
      <p:pic>
        <p:nvPicPr>
          <p:cNvPr id="6" name="Image 0" descr="/home/claude/icons/search.png"/>
          <p:cNvPicPr>
            <a:picLocks noChangeAspect="1"/>
          </p:cNvPicPr>
          <p:nvPr/>
        </p:nvPicPr>
        <p:blipFill>
          <a:blip r:embed="rId3"/>
          <a:stretch>
            <a:fillRect/>
          </a:stretch>
        </p:blipFill>
        <p:spPr>
          <a:xfrm>
            <a:off x="774497" y="2328977"/>
            <a:ext cx="416966" cy="416966"/>
          </a:xfrm>
          <a:prstGeom prst="rect">
            <a:avLst/>
          </a:prstGeom>
        </p:spPr>
      </p:pic>
      <p:sp>
        <p:nvSpPr>
          <p:cNvPr id="7" name="Text 4"/>
          <p:cNvSpPr txBox="1"/>
          <p:nvPr/>
        </p:nvSpPr>
        <p:spPr>
          <a:xfrm>
            <a:off x="1161288" y="1993392"/>
            <a:ext cx="292608" cy="292608"/>
          </a:xfrm>
          <a:prstGeom prst="ellipse">
            <a:avLst/>
          </a:prstGeom>
          <a:solidFill>
            <a:srgbClr val="F2B134"/>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5"/>
          <p:cNvSpPr txBox="1"/>
          <p:nvPr/>
        </p:nvSpPr>
        <p:spPr>
          <a:xfrm>
            <a:off x="320040" y="3108960"/>
            <a:ext cx="1325880" cy="548640"/>
          </a:xfrm>
          <a:prstGeom prst="rect">
            <a:avLst/>
          </a:prstGeom>
          <a:noFill/>
          <a:ln/>
        </p:spPr>
        <p:txBody>
          <a:bodyPr wrap="square" rtlCol="0" anchor="ctr"/>
          <a:lstStyle/>
          <a:p>
            <a:pPr marL="0" indent="0" algn="ctr">
              <a:buNone/>
            </a:pPr>
            <a:r>
              <a:rPr lang="en-US" sz="1100" b="1" dirty="0">
                <a:solidFill>
                  <a:srgbClr val="1B2733"/>
                </a:solidFill>
                <a:latin typeface="Calibri" pitchFamily="34" charset="0"/>
                <a:ea typeface="Calibri" pitchFamily="34" charset="-122"/>
                <a:cs typeface="Calibri" pitchFamily="34" charset="-120"/>
              </a:rPr>
              <a:t>Website</a:t>
            </a:r>
            <a:endParaRPr lang="en-US" sz="1100" dirty="0"/>
          </a:p>
          <a:p>
            <a:pPr marL="0" indent="0" algn="ctr">
              <a:buNone/>
            </a:pPr>
            <a:r>
              <a:rPr lang="en-US" sz="1100" b="1" dirty="0">
                <a:solidFill>
                  <a:srgbClr val="1B2733"/>
                </a:solidFill>
                <a:latin typeface="Calibri" pitchFamily="34" charset="0"/>
                <a:ea typeface="Calibri" pitchFamily="34" charset="-122"/>
                <a:cs typeface="Calibri" pitchFamily="34" charset="-120"/>
              </a:rPr>
              <a:t>Selection</a:t>
            </a:r>
            <a:endParaRPr lang="en-US" sz="1100" dirty="0"/>
          </a:p>
        </p:txBody>
      </p:sp>
      <p:sp>
        <p:nvSpPr>
          <p:cNvPr id="9" name="Shape 6"/>
          <p:cNvSpPr/>
          <p:nvPr/>
        </p:nvSpPr>
        <p:spPr>
          <a:xfrm>
            <a:off x="2834640" y="2537460"/>
            <a:ext cx="548640" cy="0"/>
          </a:xfrm>
          <a:prstGeom prst="line">
            <a:avLst/>
          </a:prstGeom>
          <a:noFill/>
          <a:ln w="19050">
            <a:solidFill>
              <a:srgbClr val="1C7293"/>
            </a:solidFill>
            <a:prstDash val="dash"/>
          </a:ln>
        </p:spPr>
      </p:sp>
      <p:sp>
        <p:nvSpPr>
          <p:cNvPr id="10" name="Shape 7"/>
          <p:cNvSpPr/>
          <p:nvPr/>
        </p:nvSpPr>
        <p:spPr>
          <a:xfrm>
            <a:off x="1965960" y="2103120"/>
            <a:ext cx="868680" cy="868680"/>
          </a:xfrm>
          <a:prstGeom prst="ellipse">
            <a:avLst/>
          </a:prstGeom>
          <a:solidFill>
            <a:srgbClr val="1C7293"/>
          </a:solidFill>
          <a:ln/>
        </p:spPr>
      </p:sp>
      <p:pic>
        <p:nvPicPr>
          <p:cNvPr id="11" name="Image 1" descr="/home/claude/icons/spider.png"/>
          <p:cNvPicPr>
            <a:picLocks noChangeAspect="1"/>
          </p:cNvPicPr>
          <p:nvPr/>
        </p:nvPicPr>
        <p:blipFill>
          <a:blip r:embed="rId4"/>
          <a:stretch>
            <a:fillRect/>
          </a:stretch>
        </p:blipFill>
        <p:spPr>
          <a:xfrm>
            <a:off x="2191817" y="2328977"/>
            <a:ext cx="416966" cy="416966"/>
          </a:xfrm>
          <a:prstGeom prst="rect">
            <a:avLst/>
          </a:prstGeom>
        </p:spPr>
      </p:pic>
      <p:sp>
        <p:nvSpPr>
          <p:cNvPr id="12" name="Text 8"/>
          <p:cNvSpPr txBox="1"/>
          <p:nvPr/>
        </p:nvSpPr>
        <p:spPr>
          <a:xfrm>
            <a:off x="2578608" y="1993392"/>
            <a:ext cx="292608" cy="292608"/>
          </a:xfrm>
          <a:prstGeom prst="ellipse">
            <a:avLst/>
          </a:prstGeom>
          <a:solidFill>
            <a:srgbClr val="F2B134"/>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9"/>
          <p:cNvSpPr txBox="1"/>
          <p:nvPr/>
        </p:nvSpPr>
        <p:spPr>
          <a:xfrm>
            <a:off x="1737360" y="3108960"/>
            <a:ext cx="1325880" cy="548640"/>
          </a:xfrm>
          <a:prstGeom prst="rect">
            <a:avLst/>
          </a:prstGeom>
          <a:noFill/>
          <a:ln/>
        </p:spPr>
        <p:txBody>
          <a:bodyPr wrap="square" rtlCol="0" anchor="ctr"/>
          <a:lstStyle/>
          <a:p>
            <a:pPr marL="0" indent="0" algn="ctr">
              <a:buNone/>
            </a:pPr>
            <a:r>
              <a:rPr lang="en-US" sz="1100" b="1" dirty="0">
                <a:solidFill>
                  <a:srgbClr val="1B2733"/>
                </a:solidFill>
                <a:latin typeface="Calibri" pitchFamily="34" charset="0"/>
                <a:ea typeface="Calibri" pitchFamily="34" charset="-122"/>
                <a:cs typeface="Calibri" pitchFamily="34" charset="-120"/>
              </a:rPr>
              <a:t>Data</a:t>
            </a:r>
            <a:endParaRPr lang="en-US" sz="1100" dirty="0"/>
          </a:p>
          <a:p>
            <a:pPr marL="0" indent="0" algn="ctr">
              <a:buNone/>
            </a:pPr>
            <a:r>
              <a:rPr lang="en-US" sz="1100" b="1" dirty="0">
                <a:solidFill>
                  <a:srgbClr val="1B2733"/>
                </a:solidFill>
                <a:latin typeface="Calibri" pitchFamily="34" charset="0"/>
                <a:ea typeface="Calibri" pitchFamily="34" charset="-122"/>
                <a:cs typeface="Calibri" pitchFamily="34" charset="-120"/>
              </a:rPr>
              <a:t>Collection</a:t>
            </a:r>
            <a:endParaRPr lang="en-US" sz="1100" dirty="0"/>
          </a:p>
        </p:txBody>
      </p:sp>
      <p:sp>
        <p:nvSpPr>
          <p:cNvPr id="14" name="Shape 10"/>
          <p:cNvSpPr/>
          <p:nvPr/>
        </p:nvSpPr>
        <p:spPr>
          <a:xfrm>
            <a:off x="4251960" y="2537460"/>
            <a:ext cx="548640" cy="0"/>
          </a:xfrm>
          <a:prstGeom prst="line">
            <a:avLst/>
          </a:prstGeom>
          <a:noFill/>
          <a:ln w="19050">
            <a:solidFill>
              <a:srgbClr val="1C7293"/>
            </a:solidFill>
            <a:prstDash val="dash"/>
          </a:ln>
        </p:spPr>
      </p:sp>
      <p:sp>
        <p:nvSpPr>
          <p:cNvPr id="15" name="Shape 11"/>
          <p:cNvSpPr/>
          <p:nvPr/>
        </p:nvSpPr>
        <p:spPr>
          <a:xfrm>
            <a:off x="3383280" y="2103120"/>
            <a:ext cx="868680" cy="868680"/>
          </a:xfrm>
          <a:prstGeom prst="ellipse">
            <a:avLst/>
          </a:prstGeom>
          <a:solidFill>
            <a:srgbClr val="065A82"/>
          </a:solidFill>
          <a:ln/>
        </p:spPr>
      </p:sp>
      <p:pic>
        <p:nvPicPr>
          <p:cNvPr id="16" name="Image 2" descr="/home/claude/icons/database.png"/>
          <p:cNvPicPr>
            <a:picLocks noChangeAspect="1"/>
          </p:cNvPicPr>
          <p:nvPr/>
        </p:nvPicPr>
        <p:blipFill>
          <a:blip r:embed="rId5"/>
          <a:stretch>
            <a:fillRect/>
          </a:stretch>
        </p:blipFill>
        <p:spPr>
          <a:xfrm>
            <a:off x="3609137" y="2328977"/>
            <a:ext cx="416966" cy="416966"/>
          </a:xfrm>
          <a:prstGeom prst="rect">
            <a:avLst/>
          </a:prstGeom>
        </p:spPr>
      </p:pic>
      <p:sp>
        <p:nvSpPr>
          <p:cNvPr id="17" name="Text 12"/>
          <p:cNvSpPr txBox="1"/>
          <p:nvPr/>
        </p:nvSpPr>
        <p:spPr>
          <a:xfrm>
            <a:off x="3995928" y="1993392"/>
            <a:ext cx="292608" cy="292608"/>
          </a:xfrm>
          <a:prstGeom prst="ellipse">
            <a:avLst/>
          </a:prstGeom>
          <a:solidFill>
            <a:srgbClr val="F2B134"/>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3"/>
          <p:cNvSpPr txBox="1"/>
          <p:nvPr/>
        </p:nvSpPr>
        <p:spPr>
          <a:xfrm>
            <a:off x="3154680" y="3108960"/>
            <a:ext cx="1325880" cy="548640"/>
          </a:xfrm>
          <a:prstGeom prst="rect">
            <a:avLst/>
          </a:prstGeom>
          <a:noFill/>
          <a:ln/>
        </p:spPr>
        <p:txBody>
          <a:bodyPr wrap="square" rtlCol="0" anchor="ctr"/>
          <a:lstStyle/>
          <a:p>
            <a:pPr marL="0" indent="0" algn="ctr">
              <a:buNone/>
            </a:pPr>
            <a:r>
              <a:rPr lang="en-US" sz="1100" b="1" dirty="0">
                <a:solidFill>
                  <a:srgbClr val="1B2733"/>
                </a:solidFill>
                <a:latin typeface="Calibri" pitchFamily="34" charset="0"/>
                <a:ea typeface="Calibri" pitchFamily="34" charset="-122"/>
                <a:cs typeface="Calibri" pitchFamily="34" charset="-120"/>
              </a:rPr>
              <a:t>Data</a:t>
            </a:r>
            <a:endParaRPr lang="en-US" sz="1100" dirty="0"/>
          </a:p>
          <a:p>
            <a:pPr marL="0" indent="0" algn="ctr">
              <a:buNone/>
            </a:pPr>
            <a:r>
              <a:rPr lang="en-US" sz="1100" b="1" dirty="0">
                <a:solidFill>
                  <a:srgbClr val="1B2733"/>
                </a:solidFill>
                <a:latin typeface="Calibri" pitchFamily="34" charset="0"/>
                <a:ea typeface="Calibri" pitchFamily="34" charset="-122"/>
                <a:cs typeface="Calibri" pitchFamily="34" charset="-120"/>
              </a:rPr>
              <a:t>Understanding</a:t>
            </a:r>
            <a:endParaRPr lang="en-US" sz="1100" dirty="0"/>
          </a:p>
        </p:txBody>
      </p:sp>
      <p:sp>
        <p:nvSpPr>
          <p:cNvPr id="19" name="Shape 14"/>
          <p:cNvSpPr/>
          <p:nvPr/>
        </p:nvSpPr>
        <p:spPr>
          <a:xfrm>
            <a:off x="5669280" y="2537460"/>
            <a:ext cx="548640" cy="0"/>
          </a:xfrm>
          <a:prstGeom prst="line">
            <a:avLst/>
          </a:prstGeom>
          <a:noFill/>
          <a:ln w="19050">
            <a:solidFill>
              <a:srgbClr val="1C7293"/>
            </a:solidFill>
            <a:prstDash val="dash"/>
          </a:ln>
        </p:spPr>
      </p:sp>
      <p:sp>
        <p:nvSpPr>
          <p:cNvPr id="20" name="Shape 15"/>
          <p:cNvSpPr/>
          <p:nvPr/>
        </p:nvSpPr>
        <p:spPr>
          <a:xfrm>
            <a:off x="4800600" y="2103120"/>
            <a:ext cx="868680" cy="868680"/>
          </a:xfrm>
          <a:prstGeom prst="ellipse">
            <a:avLst/>
          </a:prstGeom>
          <a:solidFill>
            <a:srgbClr val="1C7293"/>
          </a:solidFill>
          <a:ln/>
        </p:spPr>
      </p:sp>
      <p:pic>
        <p:nvPicPr>
          <p:cNvPr id="21" name="Image 3" descr="/home/claude/icons/broom.png"/>
          <p:cNvPicPr>
            <a:picLocks noChangeAspect="1"/>
          </p:cNvPicPr>
          <p:nvPr/>
        </p:nvPicPr>
        <p:blipFill>
          <a:blip r:embed="rId6"/>
          <a:stretch>
            <a:fillRect/>
          </a:stretch>
        </p:blipFill>
        <p:spPr>
          <a:xfrm>
            <a:off x="5026457" y="2328977"/>
            <a:ext cx="416966" cy="416966"/>
          </a:xfrm>
          <a:prstGeom prst="rect">
            <a:avLst/>
          </a:prstGeom>
        </p:spPr>
      </p:pic>
      <p:sp>
        <p:nvSpPr>
          <p:cNvPr id="22" name="Text 16"/>
          <p:cNvSpPr txBox="1"/>
          <p:nvPr/>
        </p:nvSpPr>
        <p:spPr>
          <a:xfrm>
            <a:off x="5413248" y="1993392"/>
            <a:ext cx="292608" cy="292608"/>
          </a:xfrm>
          <a:prstGeom prst="ellipse">
            <a:avLst/>
          </a:prstGeom>
          <a:solidFill>
            <a:srgbClr val="F2B134"/>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17"/>
          <p:cNvSpPr txBox="1"/>
          <p:nvPr/>
        </p:nvSpPr>
        <p:spPr>
          <a:xfrm>
            <a:off x="4572000" y="3108960"/>
            <a:ext cx="1325880" cy="548640"/>
          </a:xfrm>
          <a:prstGeom prst="rect">
            <a:avLst/>
          </a:prstGeom>
          <a:noFill/>
          <a:ln/>
        </p:spPr>
        <p:txBody>
          <a:bodyPr wrap="square" rtlCol="0" anchor="ctr"/>
          <a:lstStyle/>
          <a:p>
            <a:pPr marL="0" indent="0" algn="ctr">
              <a:buNone/>
            </a:pPr>
            <a:r>
              <a:rPr lang="en-US" sz="1100" b="1" dirty="0">
                <a:solidFill>
                  <a:srgbClr val="1B2733"/>
                </a:solidFill>
                <a:latin typeface="Calibri" pitchFamily="34" charset="0"/>
                <a:ea typeface="Calibri" pitchFamily="34" charset="-122"/>
                <a:cs typeface="Calibri" pitchFamily="34" charset="-120"/>
              </a:rPr>
              <a:t>Data</a:t>
            </a:r>
            <a:endParaRPr lang="en-US" sz="1100" dirty="0"/>
          </a:p>
          <a:p>
            <a:pPr marL="0" indent="0" algn="ctr">
              <a:buNone/>
            </a:pPr>
            <a:r>
              <a:rPr lang="en-US" sz="1100" b="1" dirty="0">
                <a:solidFill>
                  <a:srgbClr val="1B2733"/>
                </a:solidFill>
                <a:latin typeface="Calibri" pitchFamily="34" charset="0"/>
                <a:ea typeface="Calibri" pitchFamily="34" charset="-122"/>
                <a:cs typeface="Calibri" pitchFamily="34" charset="-120"/>
              </a:rPr>
              <a:t>Cleaning</a:t>
            </a:r>
            <a:endParaRPr lang="en-US" sz="1100" dirty="0"/>
          </a:p>
        </p:txBody>
      </p:sp>
      <p:sp>
        <p:nvSpPr>
          <p:cNvPr id="24" name="Shape 18"/>
          <p:cNvSpPr/>
          <p:nvPr/>
        </p:nvSpPr>
        <p:spPr>
          <a:xfrm>
            <a:off x="7086600" y="2537460"/>
            <a:ext cx="548640" cy="0"/>
          </a:xfrm>
          <a:prstGeom prst="line">
            <a:avLst/>
          </a:prstGeom>
          <a:noFill/>
          <a:ln w="19050">
            <a:solidFill>
              <a:srgbClr val="1C7293"/>
            </a:solidFill>
            <a:prstDash val="dash"/>
          </a:ln>
        </p:spPr>
      </p:sp>
      <p:sp>
        <p:nvSpPr>
          <p:cNvPr id="25" name="Shape 19"/>
          <p:cNvSpPr/>
          <p:nvPr/>
        </p:nvSpPr>
        <p:spPr>
          <a:xfrm>
            <a:off x="6217920" y="2103120"/>
            <a:ext cx="868680" cy="868680"/>
          </a:xfrm>
          <a:prstGeom prst="ellipse">
            <a:avLst/>
          </a:prstGeom>
          <a:solidFill>
            <a:srgbClr val="065A82"/>
          </a:solidFill>
          <a:ln/>
        </p:spPr>
      </p:sp>
      <p:pic>
        <p:nvPicPr>
          <p:cNvPr id="26" name="Image 4" descr="/home/claude/icons/chartline.png"/>
          <p:cNvPicPr>
            <a:picLocks noChangeAspect="1"/>
          </p:cNvPicPr>
          <p:nvPr/>
        </p:nvPicPr>
        <p:blipFill>
          <a:blip r:embed="rId7"/>
          <a:stretch>
            <a:fillRect/>
          </a:stretch>
        </p:blipFill>
        <p:spPr>
          <a:xfrm>
            <a:off x="6443777" y="2328977"/>
            <a:ext cx="416966" cy="416966"/>
          </a:xfrm>
          <a:prstGeom prst="rect">
            <a:avLst/>
          </a:prstGeom>
        </p:spPr>
      </p:pic>
      <p:sp>
        <p:nvSpPr>
          <p:cNvPr id="27" name="Text 20"/>
          <p:cNvSpPr txBox="1"/>
          <p:nvPr/>
        </p:nvSpPr>
        <p:spPr>
          <a:xfrm>
            <a:off x="6830568" y="1993392"/>
            <a:ext cx="292608" cy="292608"/>
          </a:xfrm>
          <a:prstGeom prst="ellipse">
            <a:avLst/>
          </a:prstGeom>
          <a:solidFill>
            <a:srgbClr val="F2B134"/>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Text 21"/>
          <p:cNvSpPr txBox="1"/>
          <p:nvPr/>
        </p:nvSpPr>
        <p:spPr>
          <a:xfrm>
            <a:off x="5989320" y="3108960"/>
            <a:ext cx="1325880" cy="548640"/>
          </a:xfrm>
          <a:prstGeom prst="rect">
            <a:avLst/>
          </a:prstGeom>
          <a:noFill/>
          <a:ln/>
        </p:spPr>
        <p:txBody>
          <a:bodyPr wrap="square" rtlCol="0" anchor="ctr"/>
          <a:lstStyle/>
          <a:p>
            <a:pPr marL="0" indent="0" algn="ctr">
              <a:buNone/>
            </a:pPr>
            <a:r>
              <a:rPr lang="en-US" sz="1100" b="1" dirty="0">
                <a:solidFill>
                  <a:srgbClr val="1B2733"/>
                </a:solidFill>
                <a:latin typeface="Calibri" pitchFamily="34" charset="0"/>
                <a:ea typeface="Calibri" pitchFamily="34" charset="-122"/>
                <a:cs typeface="Calibri" pitchFamily="34" charset="-120"/>
              </a:rPr>
              <a:t>EDA</a:t>
            </a:r>
            <a:endParaRPr lang="en-US" sz="1100" dirty="0"/>
          </a:p>
        </p:txBody>
      </p:sp>
      <p:sp>
        <p:nvSpPr>
          <p:cNvPr id="29" name="Shape 22"/>
          <p:cNvSpPr/>
          <p:nvPr/>
        </p:nvSpPr>
        <p:spPr>
          <a:xfrm>
            <a:off x="8503920" y="2537460"/>
            <a:ext cx="548640" cy="0"/>
          </a:xfrm>
          <a:prstGeom prst="line">
            <a:avLst/>
          </a:prstGeom>
          <a:noFill/>
          <a:ln w="19050">
            <a:solidFill>
              <a:srgbClr val="1C7293"/>
            </a:solidFill>
            <a:prstDash val="dash"/>
          </a:ln>
        </p:spPr>
      </p:sp>
      <p:sp>
        <p:nvSpPr>
          <p:cNvPr id="30" name="Shape 23"/>
          <p:cNvSpPr/>
          <p:nvPr/>
        </p:nvSpPr>
        <p:spPr>
          <a:xfrm>
            <a:off x="7635240" y="2103120"/>
            <a:ext cx="868680" cy="868680"/>
          </a:xfrm>
          <a:prstGeom prst="ellipse">
            <a:avLst/>
          </a:prstGeom>
          <a:solidFill>
            <a:srgbClr val="1C7293"/>
          </a:solidFill>
          <a:ln/>
        </p:spPr>
      </p:sp>
      <p:pic>
        <p:nvPicPr>
          <p:cNvPr id="31" name="Image 5" descr="/home/claude/icons/chartbar.png"/>
          <p:cNvPicPr>
            <a:picLocks noChangeAspect="1"/>
          </p:cNvPicPr>
          <p:nvPr/>
        </p:nvPicPr>
        <p:blipFill>
          <a:blip r:embed="rId8"/>
          <a:stretch>
            <a:fillRect/>
          </a:stretch>
        </p:blipFill>
        <p:spPr>
          <a:xfrm>
            <a:off x="7861097" y="2328977"/>
            <a:ext cx="416966" cy="416966"/>
          </a:xfrm>
          <a:prstGeom prst="rect">
            <a:avLst/>
          </a:prstGeom>
        </p:spPr>
      </p:pic>
      <p:sp>
        <p:nvSpPr>
          <p:cNvPr id="32" name="Text 24"/>
          <p:cNvSpPr txBox="1"/>
          <p:nvPr/>
        </p:nvSpPr>
        <p:spPr>
          <a:xfrm>
            <a:off x="8247888" y="1993392"/>
            <a:ext cx="292608" cy="292608"/>
          </a:xfrm>
          <a:prstGeom prst="ellipse">
            <a:avLst/>
          </a:prstGeom>
          <a:solidFill>
            <a:srgbClr val="F2B134"/>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25"/>
          <p:cNvSpPr txBox="1"/>
          <p:nvPr/>
        </p:nvSpPr>
        <p:spPr>
          <a:xfrm>
            <a:off x="7406640" y="3108960"/>
            <a:ext cx="1325880" cy="548640"/>
          </a:xfrm>
          <a:prstGeom prst="rect">
            <a:avLst/>
          </a:prstGeom>
          <a:noFill/>
          <a:ln/>
        </p:spPr>
        <p:txBody>
          <a:bodyPr wrap="square" rtlCol="0" anchor="ctr"/>
          <a:lstStyle/>
          <a:p>
            <a:pPr marL="0" indent="0" algn="ctr">
              <a:buNone/>
            </a:pPr>
            <a:r>
              <a:rPr lang="en-US" sz="1100" b="1" dirty="0">
                <a:solidFill>
                  <a:srgbClr val="1B2733"/>
                </a:solidFill>
                <a:latin typeface="Calibri" pitchFamily="34" charset="0"/>
                <a:ea typeface="Calibri" pitchFamily="34" charset="-122"/>
                <a:cs typeface="Calibri" pitchFamily="34" charset="-120"/>
              </a:rPr>
              <a:t>Visualization</a:t>
            </a:r>
            <a:endParaRPr lang="en-US" sz="1100" dirty="0"/>
          </a:p>
        </p:txBody>
      </p:sp>
      <p:sp>
        <p:nvSpPr>
          <p:cNvPr id="34" name="Shape 26"/>
          <p:cNvSpPr/>
          <p:nvPr/>
        </p:nvSpPr>
        <p:spPr>
          <a:xfrm>
            <a:off x="9921240" y="2537460"/>
            <a:ext cx="548640" cy="0"/>
          </a:xfrm>
          <a:prstGeom prst="line">
            <a:avLst/>
          </a:prstGeom>
          <a:noFill/>
          <a:ln w="19050">
            <a:solidFill>
              <a:srgbClr val="1C7293"/>
            </a:solidFill>
            <a:prstDash val="dash"/>
          </a:ln>
        </p:spPr>
      </p:sp>
      <p:sp>
        <p:nvSpPr>
          <p:cNvPr id="35" name="Shape 27"/>
          <p:cNvSpPr/>
          <p:nvPr/>
        </p:nvSpPr>
        <p:spPr>
          <a:xfrm>
            <a:off x="9052560" y="2103120"/>
            <a:ext cx="868680" cy="868680"/>
          </a:xfrm>
          <a:prstGeom prst="ellipse">
            <a:avLst/>
          </a:prstGeom>
          <a:solidFill>
            <a:srgbClr val="065A82"/>
          </a:solidFill>
          <a:ln/>
        </p:spPr>
      </p:sp>
      <p:pic>
        <p:nvPicPr>
          <p:cNvPr id="36" name="Image 6" descr="/home/claude/icons/bulb.png"/>
          <p:cNvPicPr>
            <a:picLocks noChangeAspect="1"/>
          </p:cNvPicPr>
          <p:nvPr/>
        </p:nvPicPr>
        <p:blipFill>
          <a:blip r:embed="rId9"/>
          <a:stretch>
            <a:fillRect/>
          </a:stretch>
        </p:blipFill>
        <p:spPr>
          <a:xfrm>
            <a:off x="9278417" y="2328977"/>
            <a:ext cx="416966" cy="416966"/>
          </a:xfrm>
          <a:prstGeom prst="rect">
            <a:avLst/>
          </a:prstGeom>
        </p:spPr>
      </p:pic>
      <p:sp>
        <p:nvSpPr>
          <p:cNvPr id="37" name="Text 28"/>
          <p:cNvSpPr txBox="1"/>
          <p:nvPr/>
        </p:nvSpPr>
        <p:spPr>
          <a:xfrm>
            <a:off x="9665208" y="1993392"/>
            <a:ext cx="292608" cy="292608"/>
          </a:xfrm>
          <a:prstGeom prst="ellipse">
            <a:avLst/>
          </a:prstGeom>
          <a:solidFill>
            <a:srgbClr val="F2B134"/>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8" name="Text 29"/>
          <p:cNvSpPr txBox="1"/>
          <p:nvPr/>
        </p:nvSpPr>
        <p:spPr>
          <a:xfrm>
            <a:off x="8823960" y="3108960"/>
            <a:ext cx="1325880" cy="548640"/>
          </a:xfrm>
          <a:prstGeom prst="rect">
            <a:avLst/>
          </a:prstGeom>
          <a:noFill/>
          <a:ln/>
        </p:spPr>
        <p:txBody>
          <a:bodyPr wrap="square" rtlCol="0" anchor="ctr"/>
          <a:lstStyle/>
          <a:p>
            <a:pPr marL="0" indent="0" algn="ctr">
              <a:buNone/>
            </a:pPr>
            <a:r>
              <a:rPr lang="en-US" sz="1100" b="1" dirty="0">
                <a:solidFill>
                  <a:srgbClr val="1B2733"/>
                </a:solidFill>
                <a:latin typeface="Calibri" pitchFamily="34" charset="0"/>
                <a:ea typeface="Calibri" pitchFamily="34" charset="-122"/>
                <a:cs typeface="Calibri" pitchFamily="34" charset="-120"/>
              </a:rPr>
              <a:t>Business</a:t>
            </a:r>
            <a:endParaRPr lang="en-US" sz="1100" dirty="0"/>
          </a:p>
          <a:p>
            <a:pPr marL="0" indent="0" algn="ctr">
              <a:buNone/>
            </a:pPr>
            <a:r>
              <a:rPr lang="en-US" sz="1100" b="1" dirty="0">
                <a:solidFill>
                  <a:srgbClr val="1B2733"/>
                </a:solidFill>
                <a:latin typeface="Calibri" pitchFamily="34" charset="0"/>
                <a:ea typeface="Calibri" pitchFamily="34" charset="-122"/>
                <a:cs typeface="Calibri" pitchFamily="34" charset="-120"/>
              </a:rPr>
              <a:t>Insights</a:t>
            </a:r>
            <a:endParaRPr lang="en-US" sz="1100" dirty="0"/>
          </a:p>
        </p:txBody>
      </p:sp>
      <p:sp>
        <p:nvSpPr>
          <p:cNvPr id="39" name="Shape 30"/>
          <p:cNvSpPr/>
          <p:nvPr/>
        </p:nvSpPr>
        <p:spPr>
          <a:xfrm>
            <a:off x="10469880" y="2103120"/>
            <a:ext cx="868680" cy="868680"/>
          </a:xfrm>
          <a:prstGeom prst="ellipse">
            <a:avLst/>
          </a:prstGeom>
          <a:solidFill>
            <a:srgbClr val="1C7293"/>
          </a:solidFill>
          <a:ln/>
        </p:spPr>
      </p:sp>
      <p:pic>
        <p:nvPicPr>
          <p:cNvPr id="40" name="Image 7" descr="/home/claude/icons/filealt.png"/>
          <p:cNvPicPr>
            <a:picLocks noChangeAspect="1"/>
          </p:cNvPicPr>
          <p:nvPr/>
        </p:nvPicPr>
        <p:blipFill>
          <a:blip r:embed="rId10"/>
          <a:stretch>
            <a:fillRect/>
          </a:stretch>
        </p:blipFill>
        <p:spPr>
          <a:xfrm>
            <a:off x="10695737" y="2328977"/>
            <a:ext cx="416966" cy="416966"/>
          </a:xfrm>
          <a:prstGeom prst="rect">
            <a:avLst/>
          </a:prstGeom>
        </p:spPr>
      </p:pic>
      <p:sp>
        <p:nvSpPr>
          <p:cNvPr id="41" name="Text 31"/>
          <p:cNvSpPr txBox="1"/>
          <p:nvPr/>
        </p:nvSpPr>
        <p:spPr>
          <a:xfrm>
            <a:off x="11082528" y="1993392"/>
            <a:ext cx="292608" cy="292608"/>
          </a:xfrm>
          <a:prstGeom prst="ellipse">
            <a:avLst/>
          </a:prstGeom>
          <a:solidFill>
            <a:srgbClr val="F2B134"/>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2" name="Text 32"/>
          <p:cNvSpPr txBox="1"/>
          <p:nvPr/>
        </p:nvSpPr>
        <p:spPr>
          <a:xfrm>
            <a:off x="10241280" y="3108960"/>
            <a:ext cx="1325880" cy="548640"/>
          </a:xfrm>
          <a:prstGeom prst="rect">
            <a:avLst/>
          </a:prstGeom>
          <a:noFill/>
          <a:ln/>
        </p:spPr>
        <p:txBody>
          <a:bodyPr wrap="square" rtlCol="0" anchor="ctr"/>
          <a:lstStyle/>
          <a:p>
            <a:pPr marL="0" indent="0" algn="ctr">
              <a:buNone/>
            </a:pPr>
            <a:r>
              <a:rPr lang="en-US" sz="1100" b="1" dirty="0">
                <a:solidFill>
                  <a:srgbClr val="1B2733"/>
                </a:solidFill>
                <a:latin typeface="Calibri" pitchFamily="34" charset="0"/>
                <a:ea typeface="Calibri" pitchFamily="34" charset="-122"/>
                <a:cs typeface="Calibri" pitchFamily="34" charset="-120"/>
              </a:rPr>
              <a:t>Presentation</a:t>
            </a:r>
            <a:endParaRPr lang="en-US" sz="1100" dirty="0"/>
          </a:p>
        </p:txBody>
      </p:sp>
      <p:sp>
        <p:nvSpPr>
          <p:cNvPr id="43" name="Shape 33"/>
          <p:cNvSpPr/>
          <p:nvPr/>
        </p:nvSpPr>
        <p:spPr>
          <a:xfrm>
            <a:off x="548640" y="4206240"/>
            <a:ext cx="11064240" cy="1783080"/>
          </a:xfrm>
          <a:prstGeom prst="roundRect">
            <a:avLst>
              <a:gd name="adj" fmla="val 5128"/>
            </a:avLst>
          </a:prstGeom>
          <a:solidFill>
            <a:srgbClr val="FFFFFF"/>
          </a:solidFill>
          <a:ln w="12700">
            <a:solidFill>
              <a:srgbClr val="E2E8ED"/>
            </a:solidFill>
            <a:prstDash val="solid"/>
          </a:ln>
        </p:spPr>
      </p:sp>
      <p:sp>
        <p:nvSpPr>
          <p:cNvPr id="44" name="Text 34"/>
          <p:cNvSpPr txBox="1"/>
          <p:nvPr/>
        </p:nvSpPr>
        <p:spPr>
          <a:xfrm>
            <a:off x="868680" y="4407408"/>
            <a:ext cx="7315200" cy="32004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Why this order matters</a:t>
            </a:r>
            <a:endParaRPr lang="en-US" sz="1300" dirty="0"/>
          </a:p>
        </p:txBody>
      </p:sp>
      <p:sp>
        <p:nvSpPr>
          <p:cNvPr id="45" name="Text 35"/>
          <p:cNvSpPr txBox="1"/>
          <p:nvPr/>
        </p:nvSpPr>
        <p:spPr>
          <a:xfrm>
            <a:off x="868680" y="4754880"/>
            <a:ext cx="10424160" cy="1097280"/>
          </a:xfrm>
          <a:prstGeom prst="rect">
            <a:avLst/>
          </a:prstGeom>
          <a:noFill/>
          <a:ln/>
        </p:spPr>
        <p:txBody>
          <a:bodyPr wrap="square" rtlCol="0" anchor="ctr"/>
          <a:lstStyle/>
          <a:p>
            <a:pPr marL="0" indent="0">
              <a:lnSpc>
                <a:spcPct val="120000"/>
              </a:lnSpc>
              <a:buNone/>
            </a:pPr>
            <a:r>
              <a:rPr lang="en-US" sz="1250" dirty="0">
                <a:solidFill>
                  <a:srgbClr val="1B2733"/>
                </a:solidFill>
                <a:latin typeface="Calibri" pitchFamily="34" charset="0"/>
                <a:ea typeface="Calibri" pitchFamily="34" charset="-122"/>
                <a:cs typeface="Calibri" pitchFamily="34" charset="-120"/>
              </a:rPr>
              <a:t>Each stage feeds the next: raw HTML becomes a structured dataset only after cleaning, and cleaning decisions (e.g. how prices are parsed) directly shape which patterns EDA can reveal. Business insights are only as reliable as the data pipeline behind them.</a:t>
            </a:r>
            <a:endParaRPr lang="en-US" sz="1250" dirty="0"/>
          </a:p>
        </p:txBody>
      </p:sp>
      <p:sp>
        <p:nvSpPr>
          <p:cNvPr id="46" name="Text 36"/>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TravelTriangle Web Scraping &amp; Analytics Project</a:t>
            </a:r>
            <a:endParaRPr lang="en-US" sz="900" dirty="0"/>
          </a:p>
        </p:txBody>
      </p:sp>
      <p:sp>
        <p:nvSpPr>
          <p:cNvPr id="47" name="Text 3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601200" cy="64008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Data Collection — Web Scraping</a:t>
            </a:r>
            <a:endParaRPr lang="en-US" sz="3000" dirty="0"/>
          </a:p>
        </p:txBody>
      </p:sp>
      <p:sp>
        <p:nvSpPr>
          <p:cNvPr id="3" name="Shape 1"/>
          <p:cNvSpPr/>
          <p:nvPr/>
        </p:nvSpPr>
        <p:spPr>
          <a:xfrm>
            <a:off x="548640" y="1051560"/>
            <a:ext cx="6492240" cy="18288"/>
          </a:xfrm>
          <a:prstGeom prst="rect">
            <a:avLst/>
          </a:prstGeom>
          <a:solidFill>
            <a:srgbClr val="F4F7F9"/>
          </a:solidFill>
          <a:ln/>
        </p:spPr>
      </p:sp>
      <p:sp>
        <p:nvSpPr>
          <p:cNvPr id="4" name="Text 2"/>
          <p:cNvSpPr txBox="1"/>
          <p:nvPr/>
        </p:nvSpPr>
        <p:spPr>
          <a:xfrm>
            <a:off x="548640" y="1280160"/>
            <a:ext cx="3657600" cy="320040"/>
          </a:xfrm>
          <a:prstGeom prst="rect">
            <a:avLst/>
          </a:prstGeom>
          <a:noFill/>
          <a:ln/>
        </p:spPr>
        <p:txBody>
          <a:bodyPr wrap="square"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Source</a:t>
            </a:r>
            <a:endParaRPr lang="en-US" sz="1300" dirty="0"/>
          </a:p>
        </p:txBody>
      </p:sp>
      <p:sp>
        <p:nvSpPr>
          <p:cNvPr id="5" name="Text 3"/>
          <p:cNvSpPr txBox="1"/>
          <p:nvPr/>
        </p:nvSpPr>
        <p:spPr>
          <a:xfrm>
            <a:off x="548640" y="1572768"/>
            <a:ext cx="6583680" cy="457200"/>
          </a:xfrm>
          <a:prstGeom prst="rect">
            <a:avLst/>
          </a:prstGeom>
          <a:noFill/>
          <a:ln/>
        </p:spPr>
        <p:txBody>
          <a:bodyPr wrap="square" rtlCol="0" anchor="ctr"/>
          <a:lstStyle/>
          <a:p>
            <a:pPr marL="0" indent="0">
              <a:buNone/>
            </a:pPr>
            <a:r>
              <a:rPr lang="en-US" sz="1350" dirty="0">
                <a:solidFill>
                  <a:srgbClr val="1B2733"/>
                </a:solidFill>
                <a:latin typeface="Calibri" pitchFamily="34" charset="0"/>
                <a:ea typeface="Calibri" pitchFamily="34" charset="-122"/>
                <a:cs typeface="Calibri" pitchFamily="34" charset="-120"/>
              </a:rPr>
              <a:t>traveltriangle.com — tour-package listing pages for 6 Indian destinations</a:t>
            </a:r>
            <a:endParaRPr lang="en-US" sz="1350" dirty="0"/>
          </a:p>
        </p:txBody>
      </p:sp>
      <p:sp>
        <p:nvSpPr>
          <p:cNvPr id="6" name="Text 4"/>
          <p:cNvSpPr txBox="1"/>
          <p:nvPr/>
        </p:nvSpPr>
        <p:spPr>
          <a:xfrm>
            <a:off x="548640" y="2103120"/>
            <a:ext cx="3657600" cy="320040"/>
          </a:xfrm>
          <a:prstGeom prst="rect">
            <a:avLst/>
          </a:prstGeom>
          <a:noFill/>
          <a:ln/>
        </p:spPr>
        <p:txBody>
          <a:bodyPr wrap="square"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Method</a:t>
            </a:r>
            <a:endParaRPr lang="en-US" sz="1300" dirty="0"/>
          </a:p>
        </p:txBody>
      </p:sp>
      <p:sp>
        <p:nvSpPr>
          <p:cNvPr id="7" name="Shape 5"/>
          <p:cNvSpPr/>
          <p:nvPr/>
        </p:nvSpPr>
        <p:spPr>
          <a:xfrm>
            <a:off x="548640" y="2478024"/>
            <a:ext cx="109728" cy="109728"/>
          </a:xfrm>
          <a:prstGeom prst="ellipse">
            <a:avLst/>
          </a:prstGeom>
          <a:solidFill>
            <a:srgbClr val="F2B134"/>
          </a:solidFill>
          <a:ln/>
        </p:spPr>
      </p:sp>
      <p:sp>
        <p:nvSpPr>
          <p:cNvPr id="8" name="Text 6"/>
          <p:cNvSpPr txBox="1"/>
          <p:nvPr/>
        </p:nvSpPr>
        <p:spPr>
          <a:xfrm>
            <a:off x="822960" y="2350008"/>
            <a:ext cx="6400800" cy="502920"/>
          </a:xfrm>
          <a:prstGeom prst="rect">
            <a:avLst/>
          </a:prstGeom>
          <a:noFill/>
          <a:ln/>
        </p:spPr>
        <p:txBody>
          <a:bodyPr wrap="square" rtlCol="0" anchor="ctr"/>
          <a:lstStyle/>
          <a:p>
            <a:pPr marL="0" indent="0">
              <a:buNone/>
            </a:pPr>
            <a:r>
              <a:rPr lang="en-US" sz="1250" dirty="0">
                <a:solidFill>
                  <a:srgbClr val="1B2733"/>
                </a:solidFill>
                <a:latin typeface="Calibri" pitchFamily="34" charset="0"/>
                <a:ea typeface="Calibri" pitchFamily="34" charset="-122"/>
                <a:cs typeface="Calibri" pitchFamily="34" charset="-120"/>
              </a:rPr>
              <a:t>requests + a browser User-Agent header to fetch each destination page</a:t>
            </a:r>
            <a:endParaRPr lang="en-US" sz="1250" dirty="0"/>
          </a:p>
        </p:txBody>
      </p:sp>
      <p:sp>
        <p:nvSpPr>
          <p:cNvPr id="9" name="Shape 7"/>
          <p:cNvSpPr/>
          <p:nvPr/>
        </p:nvSpPr>
        <p:spPr>
          <a:xfrm>
            <a:off x="548640" y="3044952"/>
            <a:ext cx="109728" cy="109728"/>
          </a:xfrm>
          <a:prstGeom prst="ellipse">
            <a:avLst/>
          </a:prstGeom>
          <a:solidFill>
            <a:srgbClr val="F2B134"/>
          </a:solidFill>
          <a:ln/>
        </p:spPr>
      </p:sp>
      <p:sp>
        <p:nvSpPr>
          <p:cNvPr id="10" name="Text 8"/>
          <p:cNvSpPr txBox="1"/>
          <p:nvPr/>
        </p:nvSpPr>
        <p:spPr>
          <a:xfrm>
            <a:off x="822960" y="2916936"/>
            <a:ext cx="6400800" cy="502920"/>
          </a:xfrm>
          <a:prstGeom prst="rect">
            <a:avLst/>
          </a:prstGeom>
          <a:noFill/>
          <a:ln/>
        </p:spPr>
        <p:txBody>
          <a:bodyPr wrap="square" rtlCol="0" anchor="ctr"/>
          <a:lstStyle/>
          <a:p>
            <a:pPr marL="0" indent="0">
              <a:buNone/>
            </a:pPr>
            <a:r>
              <a:rPr lang="en-US" sz="1250" dirty="0">
                <a:solidFill>
                  <a:srgbClr val="1B2733"/>
                </a:solidFill>
                <a:latin typeface="Calibri" pitchFamily="34" charset="0"/>
                <a:ea typeface="Calibri" pitchFamily="34" charset="-122"/>
                <a:cs typeface="Calibri" pitchFamily="34" charset="-120"/>
              </a:rPr>
              <a:t>BeautifulSoup (html.parser) to parse the returned HTML</a:t>
            </a:r>
            <a:endParaRPr lang="en-US" sz="1250" dirty="0"/>
          </a:p>
        </p:txBody>
      </p:sp>
      <p:sp>
        <p:nvSpPr>
          <p:cNvPr id="11" name="Shape 9"/>
          <p:cNvSpPr/>
          <p:nvPr/>
        </p:nvSpPr>
        <p:spPr>
          <a:xfrm>
            <a:off x="548640" y="3611880"/>
            <a:ext cx="109728" cy="109728"/>
          </a:xfrm>
          <a:prstGeom prst="ellipse">
            <a:avLst/>
          </a:prstGeom>
          <a:solidFill>
            <a:srgbClr val="F2B134"/>
          </a:solidFill>
          <a:ln/>
        </p:spPr>
      </p:sp>
      <p:sp>
        <p:nvSpPr>
          <p:cNvPr id="12" name="Text 10"/>
          <p:cNvSpPr txBox="1"/>
          <p:nvPr/>
        </p:nvSpPr>
        <p:spPr>
          <a:xfrm>
            <a:off x="822960" y="3483864"/>
            <a:ext cx="6400800" cy="502920"/>
          </a:xfrm>
          <a:prstGeom prst="rect">
            <a:avLst/>
          </a:prstGeom>
          <a:noFill/>
          <a:ln/>
        </p:spPr>
        <p:txBody>
          <a:bodyPr wrap="square" rtlCol="0" anchor="ctr"/>
          <a:lstStyle/>
          <a:p>
            <a:pPr marL="0" indent="0">
              <a:buNone/>
            </a:pPr>
            <a:r>
              <a:rPr lang="en-US" sz="1250" dirty="0">
                <a:solidFill>
                  <a:srgbClr val="1B2733"/>
                </a:solidFill>
                <a:latin typeface="Calibri" pitchFamily="34" charset="0"/>
                <a:ea typeface="Calibri" pitchFamily="34" charset="-122"/>
                <a:cs typeface="Calibri" pitchFamily="34" charset="-120"/>
              </a:rPr>
              <a:t>CSS selectors (div.section-table-row / section-table-col) to locate each package row and its columns</a:t>
            </a:r>
            <a:endParaRPr lang="en-US" sz="1250" dirty="0"/>
          </a:p>
        </p:txBody>
      </p:sp>
      <p:sp>
        <p:nvSpPr>
          <p:cNvPr id="13" name="Shape 11"/>
          <p:cNvSpPr/>
          <p:nvPr/>
        </p:nvSpPr>
        <p:spPr>
          <a:xfrm>
            <a:off x="548640" y="4178808"/>
            <a:ext cx="109728" cy="109728"/>
          </a:xfrm>
          <a:prstGeom prst="ellipse">
            <a:avLst/>
          </a:prstGeom>
          <a:solidFill>
            <a:srgbClr val="F2B134"/>
          </a:solidFill>
          <a:ln/>
        </p:spPr>
      </p:sp>
      <p:sp>
        <p:nvSpPr>
          <p:cNvPr id="14" name="Text 12"/>
          <p:cNvSpPr txBox="1"/>
          <p:nvPr/>
        </p:nvSpPr>
        <p:spPr>
          <a:xfrm>
            <a:off x="822960" y="4050792"/>
            <a:ext cx="6400800" cy="502920"/>
          </a:xfrm>
          <a:prstGeom prst="rect">
            <a:avLst/>
          </a:prstGeom>
          <a:noFill/>
          <a:ln/>
        </p:spPr>
        <p:txBody>
          <a:bodyPr wrap="square" rtlCol="0" anchor="ctr"/>
          <a:lstStyle/>
          <a:p>
            <a:pPr marL="0" indent="0">
              <a:buNone/>
            </a:pPr>
            <a:r>
              <a:rPr lang="en-US" sz="1250" dirty="0">
                <a:solidFill>
                  <a:srgbClr val="1B2733"/>
                </a:solidFill>
                <a:latin typeface="Calibri" pitchFamily="34" charset="0"/>
                <a:ea typeface="Calibri" pitchFamily="34" charset="-122"/>
                <a:cs typeface="Calibri" pitchFamily="34" charset="-120"/>
              </a:rPr>
              <a:t>Package name, duration, price, inclusions and package URL extracted per row and appended into a pandas DataFrame</a:t>
            </a:r>
            <a:endParaRPr lang="en-US" sz="1250" dirty="0"/>
          </a:p>
        </p:txBody>
      </p:sp>
      <p:sp>
        <p:nvSpPr>
          <p:cNvPr id="15" name="Text 13"/>
          <p:cNvSpPr txBox="1"/>
          <p:nvPr/>
        </p:nvSpPr>
        <p:spPr>
          <a:xfrm>
            <a:off x="548640" y="4892040"/>
            <a:ext cx="5486400" cy="320040"/>
          </a:xfrm>
          <a:prstGeom prst="rect">
            <a:avLst/>
          </a:prstGeom>
          <a:noFill/>
          <a:ln/>
        </p:spPr>
        <p:txBody>
          <a:bodyPr wrap="square"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Fields captured per package</a:t>
            </a:r>
            <a:endParaRPr lang="en-US" sz="1300" dirty="0"/>
          </a:p>
        </p:txBody>
      </p:sp>
      <p:sp>
        <p:nvSpPr>
          <p:cNvPr id="16" name="Text 14"/>
          <p:cNvSpPr txBox="1"/>
          <p:nvPr/>
        </p:nvSpPr>
        <p:spPr>
          <a:xfrm>
            <a:off x="548640" y="5193792"/>
            <a:ext cx="6675120" cy="365760"/>
          </a:xfrm>
          <a:prstGeom prst="rect">
            <a:avLst/>
          </a:prstGeom>
          <a:noFill/>
          <a:ln/>
        </p:spPr>
        <p:txBody>
          <a:bodyPr wrap="square" rtlCol="0" anchor="ctr"/>
          <a:lstStyle/>
          <a:p>
            <a:pPr marL="0" indent="0">
              <a:buNone/>
            </a:pPr>
            <a:r>
              <a:rPr lang="en-US" sz="1250" i="1" dirty="0">
                <a:solidFill>
                  <a:srgbClr val="5C6B78"/>
                </a:solidFill>
                <a:latin typeface="Calibri" pitchFamily="34" charset="0"/>
                <a:ea typeface="Calibri" pitchFamily="34" charset="-122"/>
                <a:cs typeface="Calibri" pitchFamily="34" charset="-120"/>
              </a:rPr>
              <a:t>Destination · Package Name · Duration · Price · Inclusions · URL</a:t>
            </a:r>
            <a:endParaRPr lang="en-US" sz="1250" dirty="0"/>
          </a:p>
        </p:txBody>
      </p:sp>
      <p:sp>
        <p:nvSpPr>
          <p:cNvPr id="17" name="Shape 15"/>
          <p:cNvSpPr/>
          <p:nvPr/>
        </p:nvSpPr>
        <p:spPr>
          <a:xfrm>
            <a:off x="7589520" y="1280160"/>
            <a:ext cx="4023360" cy="5029200"/>
          </a:xfrm>
          <a:prstGeom prst="roundRect">
            <a:avLst>
              <a:gd name="adj" fmla="val 2727"/>
            </a:avLst>
          </a:prstGeom>
          <a:solidFill>
            <a:srgbClr val="F4F7F9"/>
          </a:solidFill>
          <a:ln w="12700">
            <a:solidFill>
              <a:srgbClr val="E2E8ED"/>
            </a:solidFill>
            <a:prstDash val="solid"/>
          </a:ln>
        </p:spPr>
      </p:sp>
      <p:sp>
        <p:nvSpPr>
          <p:cNvPr id="18" name="Text 16"/>
          <p:cNvSpPr txBox="1"/>
          <p:nvPr/>
        </p:nvSpPr>
        <p:spPr>
          <a:xfrm>
            <a:off x="7863840" y="1508760"/>
            <a:ext cx="3566160" cy="320040"/>
          </a:xfrm>
          <a:prstGeom prst="rect">
            <a:avLst/>
          </a:prstGeom>
          <a:noFill/>
          <a:ln/>
        </p:spPr>
        <p:txBody>
          <a:bodyPr wrap="square" rtlCol="0" anchor="ctr"/>
          <a:lstStyle/>
          <a:p>
            <a:pPr marL="0" indent="0">
              <a:buNone/>
            </a:pPr>
            <a:r>
              <a:rPr lang="en-US" sz="1100" b="1" kern="0" spc="120" dirty="0">
                <a:solidFill>
                  <a:srgbClr val="21295C"/>
                </a:solidFill>
                <a:latin typeface="Calibri" pitchFamily="34" charset="0"/>
                <a:ea typeface="Calibri" pitchFamily="34" charset="-122"/>
                <a:cs typeface="Calibri" pitchFamily="34" charset="-120"/>
              </a:rPr>
              <a:t>DESTINATIONS SCRAPED</a:t>
            </a:r>
            <a:endParaRPr lang="en-US" sz="1100" dirty="0"/>
          </a:p>
        </p:txBody>
      </p:sp>
      <p:sp>
        <p:nvSpPr>
          <p:cNvPr id="19" name="Shape 17"/>
          <p:cNvSpPr/>
          <p:nvPr/>
        </p:nvSpPr>
        <p:spPr>
          <a:xfrm>
            <a:off x="7863840" y="1965960"/>
            <a:ext cx="3566160" cy="502920"/>
          </a:xfrm>
          <a:prstGeom prst="roundRect">
            <a:avLst>
              <a:gd name="adj" fmla="val 14545"/>
            </a:avLst>
          </a:prstGeom>
          <a:solidFill>
            <a:srgbClr val="FFFFFF"/>
          </a:solidFill>
          <a:ln w="9525">
            <a:solidFill>
              <a:srgbClr val="E2E8ED"/>
            </a:solidFill>
            <a:prstDash val="solid"/>
          </a:ln>
        </p:spPr>
      </p:sp>
      <p:pic>
        <p:nvPicPr>
          <p:cNvPr id="20" name="Image 0" descr="/home/claude/icons/map.png"/>
          <p:cNvPicPr>
            <a:picLocks noChangeAspect="1"/>
          </p:cNvPicPr>
          <p:nvPr/>
        </p:nvPicPr>
        <p:blipFill>
          <a:blip r:embed="rId3"/>
          <a:stretch>
            <a:fillRect/>
          </a:stretch>
        </p:blipFill>
        <p:spPr>
          <a:xfrm>
            <a:off x="8001000" y="2057400"/>
            <a:ext cx="320040" cy="320040"/>
          </a:xfrm>
          <a:prstGeom prst="rect">
            <a:avLst/>
          </a:prstGeom>
        </p:spPr>
      </p:pic>
      <p:sp>
        <p:nvSpPr>
          <p:cNvPr id="21" name="Text 18"/>
          <p:cNvSpPr txBox="1"/>
          <p:nvPr/>
        </p:nvSpPr>
        <p:spPr>
          <a:xfrm>
            <a:off x="8458200" y="2020824"/>
            <a:ext cx="2880360" cy="384048"/>
          </a:xfrm>
          <a:prstGeom prst="rect">
            <a:avLst/>
          </a:prstGeom>
          <a:noFill/>
          <a:ln/>
        </p:spPr>
        <p:txBody>
          <a:bodyPr wrap="square" rtlCol="0" anchor="ctr"/>
          <a:lstStyle/>
          <a:p>
            <a:pPr marL="0" indent="0">
              <a:buNone/>
            </a:pPr>
            <a:r>
              <a:rPr lang="en-US" sz="1250" dirty="0">
                <a:solidFill>
                  <a:srgbClr val="1B2733"/>
                </a:solidFill>
                <a:latin typeface="Calibri" pitchFamily="34" charset="0"/>
                <a:ea typeface="Calibri" pitchFamily="34" charset="-122"/>
                <a:cs typeface="Calibri" pitchFamily="34" charset="-120"/>
              </a:rPr>
              <a:t>India</a:t>
            </a:r>
            <a:endParaRPr lang="en-US" sz="1250" dirty="0"/>
          </a:p>
        </p:txBody>
      </p:sp>
      <p:sp>
        <p:nvSpPr>
          <p:cNvPr id="22" name="Shape 19"/>
          <p:cNvSpPr/>
          <p:nvPr/>
        </p:nvSpPr>
        <p:spPr>
          <a:xfrm>
            <a:off x="7863840" y="2587752"/>
            <a:ext cx="3566160" cy="502920"/>
          </a:xfrm>
          <a:prstGeom prst="roundRect">
            <a:avLst>
              <a:gd name="adj" fmla="val 14545"/>
            </a:avLst>
          </a:prstGeom>
          <a:solidFill>
            <a:srgbClr val="FFFFFF"/>
          </a:solidFill>
          <a:ln w="9525">
            <a:solidFill>
              <a:srgbClr val="E2E8ED"/>
            </a:solidFill>
            <a:prstDash val="solid"/>
          </a:ln>
        </p:spPr>
      </p:sp>
      <p:pic>
        <p:nvPicPr>
          <p:cNvPr id="23" name="Image 1" descr="/home/claude/icons/map.png"/>
          <p:cNvPicPr>
            <a:picLocks noChangeAspect="1"/>
          </p:cNvPicPr>
          <p:nvPr/>
        </p:nvPicPr>
        <p:blipFill>
          <a:blip r:embed="rId3"/>
          <a:stretch>
            <a:fillRect/>
          </a:stretch>
        </p:blipFill>
        <p:spPr>
          <a:xfrm>
            <a:off x="8001000" y="2679192"/>
            <a:ext cx="320040" cy="320040"/>
          </a:xfrm>
          <a:prstGeom prst="rect">
            <a:avLst/>
          </a:prstGeom>
        </p:spPr>
      </p:pic>
      <p:sp>
        <p:nvSpPr>
          <p:cNvPr id="24" name="Text 20"/>
          <p:cNvSpPr txBox="1"/>
          <p:nvPr/>
        </p:nvSpPr>
        <p:spPr>
          <a:xfrm>
            <a:off x="8458200" y="2642616"/>
            <a:ext cx="2880360" cy="384048"/>
          </a:xfrm>
          <a:prstGeom prst="rect">
            <a:avLst/>
          </a:prstGeom>
          <a:noFill/>
          <a:ln/>
        </p:spPr>
        <p:txBody>
          <a:bodyPr wrap="square" rtlCol="0" anchor="ctr"/>
          <a:lstStyle/>
          <a:p>
            <a:pPr marL="0" indent="0">
              <a:buNone/>
            </a:pPr>
            <a:r>
              <a:rPr lang="en-US" sz="1250" dirty="0">
                <a:solidFill>
                  <a:srgbClr val="1B2733"/>
                </a:solidFill>
                <a:latin typeface="Calibri" pitchFamily="34" charset="0"/>
                <a:ea typeface="Calibri" pitchFamily="34" charset="-122"/>
                <a:cs typeface="Calibri" pitchFamily="34" charset="-120"/>
              </a:rPr>
              <a:t>Rajasthan</a:t>
            </a:r>
            <a:endParaRPr lang="en-US" sz="1250" dirty="0"/>
          </a:p>
        </p:txBody>
      </p:sp>
      <p:sp>
        <p:nvSpPr>
          <p:cNvPr id="25" name="Shape 21"/>
          <p:cNvSpPr/>
          <p:nvPr/>
        </p:nvSpPr>
        <p:spPr>
          <a:xfrm>
            <a:off x="7863840" y="3209544"/>
            <a:ext cx="3566160" cy="502920"/>
          </a:xfrm>
          <a:prstGeom prst="roundRect">
            <a:avLst>
              <a:gd name="adj" fmla="val 14545"/>
            </a:avLst>
          </a:prstGeom>
          <a:solidFill>
            <a:srgbClr val="FFFFFF"/>
          </a:solidFill>
          <a:ln w="9525">
            <a:solidFill>
              <a:srgbClr val="E2E8ED"/>
            </a:solidFill>
            <a:prstDash val="solid"/>
          </a:ln>
        </p:spPr>
      </p:sp>
      <p:pic>
        <p:nvPicPr>
          <p:cNvPr id="26" name="Image 2" descr="/home/claude/icons/map.png"/>
          <p:cNvPicPr>
            <a:picLocks noChangeAspect="1"/>
          </p:cNvPicPr>
          <p:nvPr/>
        </p:nvPicPr>
        <p:blipFill>
          <a:blip r:embed="rId3"/>
          <a:stretch>
            <a:fillRect/>
          </a:stretch>
        </p:blipFill>
        <p:spPr>
          <a:xfrm>
            <a:off x="8001000" y="3300984"/>
            <a:ext cx="320040" cy="320040"/>
          </a:xfrm>
          <a:prstGeom prst="rect">
            <a:avLst/>
          </a:prstGeom>
        </p:spPr>
      </p:pic>
      <p:sp>
        <p:nvSpPr>
          <p:cNvPr id="27" name="Text 22"/>
          <p:cNvSpPr txBox="1"/>
          <p:nvPr/>
        </p:nvSpPr>
        <p:spPr>
          <a:xfrm>
            <a:off x="8458200" y="3264408"/>
            <a:ext cx="2880360" cy="384048"/>
          </a:xfrm>
          <a:prstGeom prst="rect">
            <a:avLst/>
          </a:prstGeom>
          <a:noFill/>
          <a:ln/>
        </p:spPr>
        <p:txBody>
          <a:bodyPr wrap="square" rtlCol="0" anchor="ctr"/>
          <a:lstStyle/>
          <a:p>
            <a:pPr marL="0" indent="0">
              <a:buNone/>
            </a:pPr>
            <a:r>
              <a:rPr lang="en-US" sz="1250" dirty="0">
                <a:solidFill>
                  <a:srgbClr val="1B2733"/>
                </a:solidFill>
                <a:latin typeface="Calibri" pitchFamily="34" charset="0"/>
                <a:ea typeface="Calibri" pitchFamily="34" charset="-122"/>
                <a:cs typeface="Calibri" pitchFamily="34" charset="-120"/>
              </a:rPr>
              <a:t>Himachal Pradesh</a:t>
            </a:r>
            <a:endParaRPr lang="en-US" sz="1250" dirty="0"/>
          </a:p>
        </p:txBody>
      </p:sp>
      <p:sp>
        <p:nvSpPr>
          <p:cNvPr id="28" name="Shape 23"/>
          <p:cNvSpPr/>
          <p:nvPr/>
        </p:nvSpPr>
        <p:spPr>
          <a:xfrm>
            <a:off x="7863840" y="3831336"/>
            <a:ext cx="3566160" cy="502920"/>
          </a:xfrm>
          <a:prstGeom prst="roundRect">
            <a:avLst>
              <a:gd name="adj" fmla="val 14545"/>
            </a:avLst>
          </a:prstGeom>
          <a:solidFill>
            <a:srgbClr val="FFFFFF"/>
          </a:solidFill>
          <a:ln w="9525">
            <a:solidFill>
              <a:srgbClr val="E2E8ED"/>
            </a:solidFill>
            <a:prstDash val="solid"/>
          </a:ln>
        </p:spPr>
      </p:sp>
      <p:pic>
        <p:nvPicPr>
          <p:cNvPr id="29" name="Image 3" descr="/home/claude/icons/map.png"/>
          <p:cNvPicPr>
            <a:picLocks noChangeAspect="1"/>
          </p:cNvPicPr>
          <p:nvPr/>
        </p:nvPicPr>
        <p:blipFill>
          <a:blip r:embed="rId3"/>
          <a:stretch>
            <a:fillRect/>
          </a:stretch>
        </p:blipFill>
        <p:spPr>
          <a:xfrm>
            <a:off x="8001000" y="3922776"/>
            <a:ext cx="320040" cy="320040"/>
          </a:xfrm>
          <a:prstGeom prst="rect">
            <a:avLst/>
          </a:prstGeom>
        </p:spPr>
      </p:pic>
      <p:sp>
        <p:nvSpPr>
          <p:cNvPr id="30" name="Text 24"/>
          <p:cNvSpPr txBox="1"/>
          <p:nvPr/>
        </p:nvSpPr>
        <p:spPr>
          <a:xfrm>
            <a:off x="8458200" y="3886200"/>
            <a:ext cx="2880360" cy="384048"/>
          </a:xfrm>
          <a:prstGeom prst="rect">
            <a:avLst/>
          </a:prstGeom>
          <a:noFill/>
          <a:ln/>
        </p:spPr>
        <p:txBody>
          <a:bodyPr wrap="square" rtlCol="0" anchor="ctr"/>
          <a:lstStyle/>
          <a:p>
            <a:pPr marL="0" indent="0">
              <a:buNone/>
            </a:pPr>
            <a:r>
              <a:rPr lang="en-US" sz="1250" dirty="0">
                <a:solidFill>
                  <a:srgbClr val="1B2733"/>
                </a:solidFill>
                <a:latin typeface="Calibri" pitchFamily="34" charset="0"/>
                <a:ea typeface="Calibri" pitchFamily="34" charset="-122"/>
                <a:cs typeface="Calibri" pitchFamily="34" charset="-120"/>
              </a:rPr>
              <a:t>Andaman &amp; Nicobar</a:t>
            </a:r>
            <a:endParaRPr lang="en-US" sz="1250" dirty="0"/>
          </a:p>
        </p:txBody>
      </p:sp>
      <p:sp>
        <p:nvSpPr>
          <p:cNvPr id="31" name="Shape 25"/>
          <p:cNvSpPr/>
          <p:nvPr/>
        </p:nvSpPr>
        <p:spPr>
          <a:xfrm>
            <a:off x="7863840" y="4453128"/>
            <a:ext cx="3566160" cy="502920"/>
          </a:xfrm>
          <a:prstGeom prst="roundRect">
            <a:avLst>
              <a:gd name="adj" fmla="val 14545"/>
            </a:avLst>
          </a:prstGeom>
          <a:solidFill>
            <a:srgbClr val="FFFFFF"/>
          </a:solidFill>
          <a:ln w="9525">
            <a:solidFill>
              <a:srgbClr val="E2E8ED"/>
            </a:solidFill>
            <a:prstDash val="solid"/>
          </a:ln>
        </p:spPr>
      </p:sp>
      <p:pic>
        <p:nvPicPr>
          <p:cNvPr id="32" name="Image 4" descr="/home/claude/icons/map.png"/>
          <p:cNvPicPr>
            <a:picLocks noChangeAspect="1"/>
          </p:cNvPicPr>
          <p:nvPr/>
        </p:nvPicPr>
        <p:blipFill>
          <a:blip r:embed="rId3"/>
          <a:stretch>
            <a:fillRect/>
          </a:stretch>
        </p:blipFill>
        <p:spPr>
          <a:xfrm>
            <a:off x="8001000" y="4544568"/>
            <a:ext cx="320040" cy="320040"/>
          </a:xfrm>
          <a:prstGeom prst="rect">
            <a:avLst/>
          </a:prstGeom>
        </p:spPr>
      </p:pic>
      <p:sp>
        <p:nvSpPr>
          <p:cNvPr id="33" name="Text 26"/>
          <p:cNvSpPr txBox="1"/>
          <p:nvPr/>
        </p:nvSpPr>
        <p:spPr>
          <a:xfrm>
            <a:off x="8458200" y="4507992"/>
            <a:ext cx="2880360" cy="384048"/>
          </a:xfrm>
          <a:prstGeom prst="rect">
            <a:avLst/>
          </a:prstGeom>
          <a:noFill/>
          <a:ln/>
        </p:spPr>
        <p:txBody>
          <a:bodyPr wrap="square" rtlCol="0" anchor="ctr"/>
          <a:lstStyle/>
          <a:p>
            <a:pPr marL="0" indent="0">
              <a:buNone/>
            </a:pPr>
            <a:r>
              <a:rPr lang="en-US" sz="1250" dirty="0">
                <a:solidFill>
                  <a:srgbClr val="1B2733"/>
                </a:solidFill>
                <a:latin typeface="Calibri" pitchFamily="34" charset="0"/>
                <a:ea typeface="Calibri" pitchFamily="34" charset="-122"/>
                <a:cs typeface="Calibri" pitchFamily="34" charset="-120"/>
              </a:rPr>
              <a:t>Sikkim</a:t>
            </a:r>
            <a:endParaRPr lang="en-US" sz="1250" dirty="0"/>
          </a:p>
        </p:txBody>
      </p:sp>
      <p:sp>
        <p:nvSpPr>
          <p:cNvPr id="34" name="Shape 27"/>
          <p:cNvSpPr/>
          <p:nvPr/>
        </p:nvSpPr>
        <p:spPr>
          <a:xfrm>
            <a:off x="7863840" y="5074920"/>
            <a:ext cx="3566160" cy="502920"/>
          </a:xfrm>
          <a:prstGeom prst="roundRect">
            <a:avLst>
              <a:gd name="adj" fmla="val 14545"/>
            </a:avLst>
          </a:prstGeom>
          <a:solidFill>
            <a:srgbClr val="FFFFFF"/>
          </a:solidFill>
          <a:ln w="9525">
            <a:solidFill>
              <a:srgbClr val="E2E8ED"/>
            </a:solidFill>
            <a:prstDash val="solid"/>
          </a:ln>
        </p:spPr>
      </p:sp>
      <p:pic>
        <p:nvPicPr>
          <p:cNvPr id="35" name="Image 5" descr="/home/claude/icons/map.png"/>
          <p:cNvPicPr>
            <a:picLocks noChangeAspect="1"/>
          </p:cNvPicPr>
          <p:nvPr/>
        </p:nvPicPr>
        <p:blipFill>
          <a:blip r:embed="rId3"/>
          <a:stretch>
            <a:fillRect/>
          </a:stretch>
        </p:blipFill>
        <p:spPr>
          <a:xfrm>
            <a:off x="8001000" y="5166360"/>
            <a:ext cx="320040" cy="320040"/>
          </a:xfrm>
          <a:prstGeom prst="rect">
            <a:avLst/>
          </a:prstGeom>
        </p:spPr>
      </p:pic>
      <p:sp>
        <p:nvSpPr>
          <p:cNvPr id="36" name="Text 28"/>
          <p:cNvSpPr txBox="1"/>
          <p:nvPr/>
        </p:nvSpPr>
        <p:spPr>
          <a:xfrm>
            <a:off x="8458200" y="5129784"/>
            <a:ext cx="2880360" cy="384048"/>
          </a:xfrm>
          <a:prstGeom prst="rect">
            <a:avLst/>
          </a:prstGeom>
          <a:noFill/>
          <a:ln/>
        </p:spPr>
        <p:txBody>
          <a:bodyPr wrap="square" rtlCol="0" anchor="ctr"/>
          <a:lstStyle/>
          <a:p>
            <a:pPr marL="0" indent="0">
              <a:buNone/>
            </a:pPr>
            <a:r>
              <a:rPr lang="en-US" sz="1250" dirty="0">
                <a:solidFill>
                  <a:srgbClr val="1B2733"/>
                </a:solidFill>
                <a:latin typeface="Calibri" pitchFamily="34" charset="0"/>
                <a:ea typeface="Calibri" pitchFamily="34" charset="-122"/>
                <a:cs typeface="Calibri" pitchFamily="34" charset="-120"/>
              </a:rPr>
              <a:t>Uttarakhand</a:t>
            </a:r>
            <a:endParaRPr lang="en-US" sz="1250" dirty="0"/>
          </a:p>
        </p:txBody>
      </p:sp>
      <p:sp>
        <p:nvSpPr>
          <p:cNvPr id="37" name="Text 29"/>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TravelTriangle Web Scraping &amp; Analytics Project</a:t>
            </a:r>
            <a:endParaRPr lang="en-US" sz="900" dirty="0"/>
          </a:p>
        </p:txBody>
      </p:sp>
      <p:sp>
        <p:nvSpPr>
          <p:cNvPr id="38" name="Text 30"/>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601200" cy="64008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Data Cleaning &amp; Structuring</a:t>
            </a:r>
            <a:endParaRPr lang="en-US" sz="3200" dirty="0"/>
          </a:p>
        </p:txBody>
      </p:sp>
      <p:sp>
        <p:nvSpPr>
          <p:cNvPr id="3" name="Shape 1"/>
          <p:cNvSpPr/>
          <p:nvPr/>
        </p:nvSpPr>
        <p:spPr>
          <a:xfrm>
            <a:off x="548640" y="1051560"/>
            <a:ext cx="11064240" cy="18288"/>
          </a:xfrm>
          <a:prstGeom prst="rect">
            <a:avLst/>
          </a:prstGeom>
          <a:solidFill>
            <a:srgbClr val="F4F7F9"/>
          </a:solidFill>
          <a:ln/>
        </p:spPr>
      </p:sp>
      <p:sp>
        <p:nvSpPr>
          <p:cNvPr id="4" name="Shape 2"/>
          <p:cNvSpPr/>
          <p:nvPr/>
        </p:nvSpPr>
        <p:spPr>
          <a:xfrm>
            <a:off x="548640" y="1325880"/>
            <a:ext cx="3566160" cy="1645920"/>
          </a:xfrm>
          <a:prstGeom prst="roundRect">
            <a:avLst>
              <a:gd name="adj" fmla="val 5556"/>
            </a:avLst>
          </a:prstGeom>
          <a:solidFill>
            <a:srgbClr val="F4F7F9"/>
          </a:solidFill>
          <a:ln/>
        </p:spPr>
      </p:sp>
      <p:sp>
        <p:nvSpPr>
          <p:cNvPr id="5" name="Shape 3"/>
          <p:cNvSpPr/>
          <p:nvPr/>
        </p:nvSpPr>
        <p:spPr>
          <a:xfrm>
            <a:off x="777240" y="1554480"/>
            <a:ext cx="548640" cy="548640"/>
          </a:xfrm>
          <a:prstGeom prst="ellipse">
            <a:avLst/>
          </a:prstGeom>
          <a:solidFill>
            <a:srgbClr val="065A82"/>
          </a:solidFill>
          <a:ln/>
        </p:spPr>
      </p:sp>
      <p:pic>
        <p:nvPicPr>
          <p:cNvPr id="6" name="Image 0" descr="/home/claude/icons/tags.png"/>
          <p:cNvPicPr>
            <a:picLocks noChangeAspect="1"/>
          </p:cNvPicPr>
          <p:nvPr/>
        </p:nvPicPr>
        <p:blipFill>
          <a:blip r:embed="rId3"/>
          <a:stretch>
            <a:fillRect/>
          </a:stretch>
        </p:blipFill>
        <p:spPr>
          <a:xfrm>
            <a:off x="919886" y="1697126"/>
            <a:ext cx="263347" cy="263347"/>
          </a:xfrm>
          <a:prstGeom prst="rect">
            <a:avLst/>
          </a:prstGeom>
        </p:spPr>
      </p:pic>
      <p:sp>
        <p:nvSpPr>
          <p:cNvPr id="7" name="Text 4"/>
          <p:cNvSpPr txBox="1"/>
          <p:nvPr/>
        </p:nvSpPr>
        <p:spPr>
          <a:xfrm>
            <a:off x="1463040" y="1554480"/>
            <a:ext cx="2468880" cy="36576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Price parsing</a:t>
            </a:r>
            <a:endParaRPr lang="en-US" sz="1300" dirty="0"/>
          </a:p>
        </p:txBody>
      </p:sp>
      <p:sp>
        <p:nvSpPr>
          <p:cNvPr id="8" name="Text 5"/>
          <p:cNvSpPr txBox="1"/>
          <p:nvPr/>
        </p:nvSpPr>
        <p:spPr>
          <a:xfrm>
            <a:off x="777240" y="2148840"/>
            <a:ext cx="3108960" cy="731520"/>
          </a:xfrm>
          <a:prstGeom prst="rect">
            <a:avLst/>
          </a:prstGeom>
          <a:noFill/>
          <a:ln/>
        </p:spPr>
        <p:txBody>
          <a:bodyPr wrap="square" rtlCol="0" anchor="ctr"/>
          <a:lstStyle/>
          <a:p>
            <a:pPr marL="0" indent="0">
              <a:lnSpc>
                <a:spcPct val="115000"/>
              </a:lnSpc>
              <a:buNone/>
            </a:pPr>
            <a:r>
              <a:rPr lang="en-US" sz="1050" dirty="0">
                <a:solidFill>
                  <a:srgbClr val="1B2733"/>
                </a:solidFill>
                <a:latin typeface="Calibri" pitchFamily="34" charset="0"/>
                <a:ea typeface="Calibri" pitchFamily="34" charset="-122"/>
                <a:cs typeface="Calibri" pitchFamily="34" charset="-120"/>
              </a:rPr>
              <a:t>Regex stripped currency symbols/text from Price, producing a numeric Price_Numeric column (e.g. ₹7,999/- → 7999)</a:t>
            </a:r>
            <a:endParaRPr lang="en-US" sz="1050" dirty="0"/>
          </a:p>
        </p:txBody>
      </p:sp>
      <p:sp>
        <p:nvSpPr>
          <p:cNvPr id="9" name="Shape 6"/>
          <p:cNvSpPr/>
          <p:nvPr/>
        </p:nvSpPr>
        <p:spPr>
          <a:xfrm>
            <a:off x="4343400" y="1325880"/>
            <a:ext cx="3566160" cy="1645920"/>
          </a:xfrm>
          <a:prstGeom prst="roundRect">
            <a:avLst>
              <a:gd name="adj" fmla="val 5556"/>
            </a:avLst>
          </a:prstGeom>
          <a:solidFill>
            <a:srgbClr val="F4F7F9"/>
          </a:solidFill>
          <a:ln/>
        </p:spPr>
      </p:sp>
      <p:sp>
        <p:nvSpPr>
          <p:cNvPr id="10" name="Shape 7"/>
          <p:cNvSpPr/>
          <p:nvPr/>
        </p:nvSpPr>
        <p:spPr>
          <a:xfrm>
            <a:off x="4572000" y="1554480"/>
            <a:ext cx="548640" cy="548640"/>
          </a:xfrm>
          <a:prstGeom prst="ellipse">
            <a:avLst/>
          </a:prstGeom>
          <a:solidFill>
            <a:srgbClr val="065A82"/>
          </a:solidFill>
          <a:ln/>
        </p:spPr>
      </p:sp>
      <p:pic>
        <p:nvPicPr>
          <p:cNvPr id="11" name="Image 1" descr="/home/claude/icons/route.png"/>
          <p:cNvPicPr>
            <a:picLocks noChangeAspect="1"/>
          </p:cNvPicPr>
          <p:nvPr/>
        </p:nvPicPr>
        <p:blipFill>
          <a:blip r:embed="rId4"/>
          <a:stretch>
            <a:fillRect/>
          </a:stretch>
        </p:blipFill>
        <p:spPr>
          <a:xfrm>
            <a:off x="4714646" y="1697126"/>
            <a:ext cx="263347" cy="263347"/>
          </a:xfrm>
          <a:prstGeom prst="rect">
            <a:avLst/>
          </a:prstGeom>
        </p:spPr>
      </p:pic>
      <p:sp>
        <p:nvSpPr>
          <p:cNvPr id="12" name="Text 8"/>
          <p:cNvSpPr txBox="1"/>
          <p:nvPr/>
        </p:nvSpPr>
        <p:spPr>
          <a:xfrm>
            <a:off x="5257800" y="1554480"/>
            <a:ext cx="2468880" cy="36576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Duration parsing</a:t>
            </a:r>
            <a:endParaRPr lang="en-US" sz="1300" dirty="0"/>
          </a:p>
        </p:txBody>
      </p:sp>
      <p:sp>
        <p:nvSpPr>
          <p:cNvPr id="13" name="Text 9"/>
          <p:cNvSpPr txBox="1"/>
          <p:nvPr/>
        </p:nvSpPr>
        <p:spPr>
          <a:xfrm>
            <a:off x="4572000" y="2148840"/>
            <a:ext cx="3108960" cy="731520"/>
          </a:xfrm>
          <a:prstGeom prst="rect">
            <a:avLst/>
          </a:prstGeom>
          <a:noFill/>
          <a:ln/>
        </p:spPr>
        <p:txBody>
          <a:bodyPr wrap="square" rtlCol="0" anchor="ctr"/>
          <a:lstStyle/>
          <a:p>
            <a:pPr marL="0" indent="0">
              <a:lnSpc>
                <a:spcPct val="115000"/>
              </a:lnSpc>
              <a:buNone/>
            </a:pPr>
            <a:r>
              <a:rPr lang="en-US" sz="1050" dirty="0">
                <a:solidFill>
                  <a:srgbClr val="1B2733"/>
                </a:solidFill>
                <a:latin typeface="Calibri" pitchFamily="34" charset="0"/>
                <a:ea typeface="Calibri" pitchFamily="34" charset="-122"/>
                <a:cs typeface="Calibri" pitchFamily="34" charset="-120"/>
              </a:rPr>
              <a:t>Regex extracted Nights and Days as separate numeric columns from strings like "4 Nights/5 Days"</a:t>
            </a:r>
            <a:endParaRPr lang="en-US" sz="1050" dirty="0"/>
          </a:p>
        </p:txBody>
      </p:sp>
      <p:sp>
        <p:nvSpPr>
          <p:cNvPr id="14" name="Shape 10"/>
          <p:cNvSpPr/>
          <p:nvPr/>
        </p:nvSpPr>
        <p:spPr>
          <a:xfrm>
            <a:off x="8138160" y="1325880"/>
            <a:ext cx="3566160" cy="1645920"/>
          </a:xfrm>
          <a:prstGeom prst="roundRect">
            <a:avLst>
              <a:gd name="adj" fmla="val 5556"/>
            </a:avLst>
          </a:prstGeom>
          <a:solidFill>
            <a:srgbClr val="F4F7F9"/>
          </a:solidFill>
          <a:ln/>
        </p:spPr>
      </p:sp>
      <p:sp>
        <p:nvSpPr>
          <p:cNvPr id="15" name="Shape 11"/>
          <p:cNvSpPr/>
          <p:nvPr/>
        </p:nvSpPr>
        <p:spPr>
          <a:xfrm>
            <a:off x="8366760" y="1554480"/>
            <a:ext cx="548640" cy="548640"/>
          </a:xfrm>
          <a:prstGeom prst="ellipse">
            <a:avLst/>
          </a:prstGeom>
          <a:solidFill>
            <a:srgbClr val="065A82"/>
          </a:solidFill>
          <a:ln/>
        </p:spPr>
      </p:sp>
      <p:pic>
        <p:nvPicPr>
          <p:cNvPr id="16" name="Image 2" descr="/home/claude/icons/broom.png"/>
          <p:cNvPicPr>
            <a:picLocks noChangeAspect="1"/>
          </p:cNvPicPr>
          <p:nvPr/>
        </p:nvPicPr>
        <p:blipFill>
          <a:blip r:embed="rId5"/>
          <a:stretch>
            <a:fillRect/>
          </a:stretch>
        </p:blipFill>
        <p:spPr>
          <a:xfrm>
            <a:off x="8509406" y="1697126"/>
            <a:ext cx="263347" cy="263347"/>
          </a:xfrm>
          <a:prstGeom prst="rect">
            <a:avLst/>
          </a:prstGeom>
        </p:spPr>
      </p:pic>
      <p:sp>
        <p:nvSpPr>
          <p:cNvPr id="17" name="Text 12"/>
          <p:cNvSpPr txBox="1"/>
          <p:nvPr/>
        </p:nvSpPr>
        <p:spPr>
          <a:xfrm>
            <a:off x="9052560" y="1554480"/>
            <a:ext cx="2468880" cy="36576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Header-row removal</a:t>
            </a:r>
            <a:endParaRPr lang="en-US" sz="1300" dirty="0"/>
          </a:p>
        </p:txBody>
      </p:sp>
      <p:sp>
        <p:nvSpPr>
          <p:cNvPr id="18" name="Text 13"/>
          <p:cNvSpPr txBox="1"/>
          <p:nvPr/>
        </p:nvSpPr>
        <p:spPr>
          <a:xfrm>
            <a:off x="8366760" y="2148840"/>
            <a:ext cx="3108960" cy="731520"/>
          </a:xfrm>
          <a:prstGeom prst="rect">
            <a:avLst/>
          </a:prstGeom>
          <a:noFill/>
          <a:ln/>
        </p:spPr>
        <p:txBody>
          <a:bodyPr wrap="square" rtlCol="0" anchor="ctr"/>
          <a:lstStyle/>
          <a:p>
            <a:pPr marL="0" indent="0">
              <a:lnSpc>
                <a:spcPct val="115000"/>
              </a:lnSpc>
              <a:buNone/>
            </a:pPr>
            <a:r>
              <a:rPr lang="en-US" sz="1050" dirty="0">
                <a:solidFill>
                  <a:srgbClr val="1B2733"/>
                </a:solidFill>
                <a:latin typeface="Calibri" pitchFamily="34" charset="0"/>
                <a:ea typeface="Calibri" pitchFamily="34" charset="-122"/>
                <a:cs typeface="Calibri" pitchFamily="34" charset="-120"/>
              </a:rPr>
              <a:t>Rows where the scraper mistakenly captured table headers (e.g. "Duration", "Price*") were identified and dropped</a:t>
            </a:r>
            <a:endParaRPr lang="en-US" sz="1050" dirty="0"/>
          </a:p>
        </p:txBody>
      </p:sp>
      <p:sp>
        <p:nvSpPr>
          <p:cNvPr id="19" name="Shape 14"/>
          <p:cNvSpPr/>
          <p:nvPr/>
        </p:nvSpPr>
        <p:spPr>
          <a:xfrm>
            <a:off x="548640" y="3200400"/>
            <a:ext cx="3566160" cy="1645920"/>
          </a:xfrm>
          <a:prstGeom prst="roundRect">
            <a:avLst>
              <a:gd name="adj" fmla="val 5556"/>
            </a:avLst>
          </a:prstGeom>
          <a:solidFill>
            <a:srgbClr val="F4F7F9"/>
          </a:solidFill>
          <a:ln/>
        </p:spPr>
      </p:sp>
      <p:sp>
        <p:nvSpPr>
          <p:cNvPr id="20" name="Shape 15"/>
          <p:cNvSpPr/>
          <p:nvPr/>
        </p:nvSpPr>
        <p:spPr>
          <a:xfrm>
            <a:off x="777240" y="3429000"/>
            <a:ext cx="548640" cy="548640"/>
          </a:xfrm>
          <a:prstGeom prst="ellipse">
            <a:avLst/>
          </a:prstGeom>
          <a:solidFill>
            <a:srgbClr val="065A82"/>
          </a:solidFill>
          <a:ln/>
        </p:spPr>
      </p:sp>
      <p:pic>
        <p:nvPicPr>
          <p:cNvPr id="21" name="Image 3" descr="/home/claude/icons/check.png"/>
          <p:cNvPicPr>
            <a:picLocks noChangeAspect="1"/>
          </p:cNvPicPr>
          <p:nvPr/>
        </p:nvPicPr>
        <p:blipFill>
          <a:blip r:embed="rId6"/>
          <a:stretch>
            <a:fillRect/>
          </a:stretch>
        </p:blipFill>
        <p:spPr>
          <a:xfrm>
            <a:off x="919886" y="3571646"/>
            <a:ext cx="263347" cy="263347"/>
          </a:xfrm>
          <a:prstGeom prst="rect">
            <a:avLst/>
          </a:prstGeom>
        </p:spPr>
      </p:pic>
      <p:sp>
        <p:nvSpPr>
          <p:cNvPr id="22" name="Text 16"/>
          <p:cNvSpPr txBox="1"/>
          <p:nvPr/>
        </p:nvSpPr>
        <p:spPr>
          <a:xfrm>
            <a:off x="1463040" y="3429000"/>
            <a:ext cx="2468880" cy="36576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Duplicate removal</a:t>
            </a:r>
            <a:endParaRPr lang="en-US" sz="1300" dirty="0"/>
          </a:p>
        </p:txBody>
      </p:sp>
      <p:sp>
        <p:nvSpPr>
          <p:cNvPr id="23" name="Text 17"/>
          <p:cNvSpPr txBox="1"/>
          <p:nvPr/>
        </p:nvSpPr>
        <p:spPr>
          <a:xfrm>
            <a:off x="777240" y="4023360"/>
            <a:ext cx="3108960" cy="731520"/>
          </a:xfrm>
          <a:prstGeom prst="rect">
            <a:avLst/>
          </a:prstGeom>
          <a:noFill/>
          <a:ln/>
        </p:spPr>
        <p:txBody>
          <a:bodyPr wrap="square" rtlCol="0" anchor="ctr"/>
          <a:lstStyle/>
          <a:p>
            <a:pPr marL="0" indent="0">
              <a:lnSpc>
                <a:spcPct val="115000"/>
              </a:lnSpc>
              <a:buNone/>
            </a:pPr>
            <a:r>
              <a:rPr lang="en-US" sz="1050" dirty="0">
                <a:solidFill>
                  <a:srgbClr val="1B2733"/>
                </a:solidFill>
                <a:latin typeface="Calibri" pitchFamily="34" charset="0"/>
                <a:ea typeface="Calibri" pitchFamily="34" charset="-122"/>
                <a:cs typeface="Calibri" pitchFamily="34" charset="-120"/>
              </a:rPr>
              <a:t>Records de-duplicated on Destination + Package_Name after merging all six destination scrapes</a:t>
            </a:r>
            <a:endParaRPr lang="en-US" sz="1050" dirty="0"/>
          </a:p>
        </p:txBody>
      </p:sp>
      <p:sp>
        <p:nvSpPr>
          <p:cNvPr id="24" name="Shape 18"/>
          <p:cNvSpPr/>
          <p:nvPr/>
        </p:nvSpPr>
        <p:spPr>
          <a:xfrm>
            <a:off x="4343400" y="3200400"/>
            <a:ext cx="3566160" cy="1645920"/>
          </a:xfrm>
          <a:prstGeom prst="roundRect">
            <a:avLst>
              <a:gd name="adj" fmla="val 5556"/>
            </a:avLst>
          </a:prstGeom>
          <a:solidFill>
            <a:srgbClr val="F4F7F9"/>
          </a:solidFill>
          <a:ln/>
        </p:spPr>
      </p:sp>
      <p:sp>
        <p:nvSpPr>
          <p:cNvPr id="25" name="Shape 19"/>
          <p:cNvSpPr/>
          <p:nvPr/>
        </p:nvSpPr>
        <p:spPr>
          <a:xfrm>
            <a:off x="4572000" y="3429000"/>
            <a:ext cx="548640" cy="548640"/>
          </a:xfrm>
          <a:prstGeom prst="ellipse">
            <a:avLst/>
          </a:prstGeom>
          <a:solidFill>
            <a:srgbClr val="065A82"/>
          </a:solidFill>
          <a:ln/>
        </p:spPr>
      </p:sp>
      <p:pic>
        <p:nvPicPr>
          <p:cNvPr id="26" name="Image 4" descr="/home/claude/icons/database.png"/>
          <p:cNvPicPr>
            <a:picLocks noChangeAspect="1"/>
          </p:cNvPicPr>
          <p:nvPr/>
        </p:nvPicPr>
        <p:blipFill>
          <a:blip r:embed="rId7"/>
          <a:stretch>
            <a:fillRect/>
          </a:stretch>
        </p:blipFill>
        <p:spPr>
          <a:xfrm>
            <a:off x="4714646" y="3571646"/>
            <a:ext cx="263347" cy="263347"/>
          </a:xfrm>
          <a:prstGeom prst="rect">
            <a:avLst/>
          </a:prstGeom>
        </p:spPr>
      </p:pic>
      <p:sp>
        <p:nvSpPr>
          <p:cNvPr id="27" name="Text 20"/>
          <p:cNvSpPr txBox="1"/>
          <p:nvPr/>
        </p:nvSpPr>
        <p:spPr>
          <a:xfrm>
            <a:off x="5257800" y="3429000"/>
            <a:ext cx="2468880" cy="36576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Missing-value handling</a:t>
            </a:r>
            <a:endParaRPr lang="en-US" sz="1300" dirty="0"/>
          </a:p>
        </p:txBody>
      </p:sp>
      <p:sp>
        <p:nvSpPr>
          <p:cNvPr id="28" name="Text 21"/>
          <p:cNvSpPr txBox="1"/>
          <p:nvPr/>
        </p:nvSpPr>
        <p:spPr>
          <a:xfrm>
            <a:off x="4572000" y="4023360"/>
            <a:ext cx="3108960" cy="731520"/>
          </a:xfrm>
          <a:prstGeom prst="rect">
            <a:avLst/>
          </a:prstGeom>
          <a:noFill/>
          <a:ln/>
        </p:spPr>
        <p:txBody>
          <a:bodyPr wrap="square" rtlCol="0" anchor="ctr"/>
          <a:lstStyle/>
          <a:p>
            <a:pPr marL="0" indent="0">
              <a:lnSpc>
                <a:spcPct val="115000"/>
              </a:lnSpc>
              <a:buNone/>
            </a:pPr>
            <a:r>
              <a:rPr lang="en-US" sz="1050" dirty="0">
                <a:solidFill>
                  <a:srgbClr val="1B2733"/>
                </a:solidFill>
                <a:latin typeface="Calibri" pitchFamily="34" charset="0"/>
                <a:ea typeface="Calibri" pitchFamily="34" charset="-122"/>
                <a:cs typeface="Calibri" pitchFamily="34" charset="-120"/>
              </a:rPr>
              <a:t>Empty URLs filled with "Not Available"; rows with unrecoverable Price/Nights/Days were located and corrected</a:t>
            </a:r>
            <a:endParaRPr lang="en-US" sz="1050" dirty="0"/>
          </a:p>
        </p:txBody>
      </p:sp>
      <p:sp>
        <p:nvSpPr>
          <p:cNvPr id="29" name="Shape 22"/>
          <p:cNvSpPr/>
          <p:nvPr/>
        </p:nvSpPr>
        <p:spPr>
          <a:xfrm>
            <a:off x="8138160" y="3200400"/>
            <a:ext cx="3566160" cy="1645920"/>
          </a:xfrm>
          <a:prstGeom prst="roundRect">
            <a:avLst>
              <a:gd name="adj" fmla="val 5556"/>
            </a:avLst>
          </a:prstGeom>
          <a:solidFill>
            <a:srgbClr val="F4F7F9"/>
          </a:solidFill>
          <a:ln/>
        </p:spPr>
      </p:sp>
      <p:sp>
        <p:nvSpPr>
          <p:cNvPr id="30" name="Shape 23"/>
          <p:cNvSpPr/>
          <p:nvPr/>
        </p:nvSpPr>
        <p:spPr>
          <a:xfrm>
            <a:off x="8366760" y="3429000"/>
            <a:ext cx="548640" cy="548640"/>
          </a:xfrm>
          <a:prstGeom prst="ellipse">
            <a:avLst/>
          </a:prstGeom>
          <a:solidFill>
            <a:srgbClr val="065A82"/>
          </a:solidFill>
          <a:ln/>
        </p:spPr>
      </p:sp>
      <p:pic>
        <p:nvPicPr>
          <p:cNvPr id="31" name="Image 5" descr="/home/claude/icons/filealt.png"/>
          <p:cNvPicPr>
            <a:picLocks noChangeAspect="1"/>
          </p:cNvPicPr>
          <p:nvPr/>
        </p:nvPicPr>
        <p:blipFill>
          <a:blip r:embed="rId8"/>
          <a:stretch>
            <a:fillRect/>
          </a:stretch>
        </p:blipFill>
        <p:spPr>
          <a:xfrm>
            <a:off x="8509406" y="3571646"/>
            <a:ext cx="263347" cy="263347"/>
          </a:xfrm>
          <a:prstGeom prst="rect">
            <a:avLst/>
          </a:prstGeom>
        </p:spPr>
      </p:pic>
      <p:sp>
        <p:nvSpPr>
          <p:cNvPr id="32" name="Text 24"/>
          <p:cNvSpPr txBox="1"/>
          <p:nvPr/>
        </p:nvSpPr>
        <p:spPr>
          <a:xfrm>
            <a:off x="9052560" y="3429000"/>
            <a:ext cx="2468880" cy="36576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Final export</a:t>
            </a:r>
            <a:endParaRPr lang="en-US" sz="1300" dirty="0"/>
          </a:p>
        </p:txBody>
      </p:sp>
      <p:sp>
        <p:nvSpPr>
          <p:cNvPr id="33" name="Text 25"/>
          <p:cNvSpPr txBox="1"/>
          <p:nvPr/>
        </p:nvSpPr>
        <p:spPr>
          <a:xfrm>
            <a:off x="8366760" y="4023360"/>
            <a:ext cx="3108960" cy="731520"/>
          </a:xfrm>
          <a:prstGeom prst="rect">
            <a:avLst/>
          </a:prstGeom>
          <a:noFill/>
          <a:ln/>
        </p:spPr>
        <p:txBody>
          <a:bodyPr wrap="square" rtlCol="0" anchor="ctr"/>
          <a:lstStyle/>
          <a:p>
            <a:pPr marL="0" indent="0">
              <a:lnSpc>
                <a:spcPct val="115000"/>
              </a:lnSpc>
              <a:buNone/>
            </a:pPr>
            <a:r>
              <a:rPr lang="en-US" sz="1050" dirty="0">
                <a:solidFill>
                  <a:srgbClr val="1B2733"/>
                </a:solidFill>
                <a:latin typeface="Calibri" pitchFamily="34" charset="0"/>
                <a:ea typeface="Calibri" pitchFamily="34" charset="-122"/>
                <a:cs typeface="Calibri" pitchFamily="34" charset="-120"/>
              </a:rPr>
              <a:t>Cleaned data consolidated into a single dataset and exported to CSV / Excel for analysis and Power BI</a:t>
            </a:r>
            <a:endParaRPr lang="en-US" sz="1050" dirty="0"/>
          </a:p>
        </p:txBody>
      </p:sp>
      <p:sp>
        <p:nvSpPr>
          <p:cNvPr id="34" name="Text 26"/>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TravelTriangle Web Scraping &amp; Analytics Project</a:t>
            </a:r>
            <a:endParaRPr lang="en-US" sz="900" dirty="0"/>
          </a:p>
        </p:txBody>
      </p:sp>
      <p:sp>
        <p:nvSpPr>
          <p:cNvPr id="35" name="Text 2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Data Dictionary</a:t>
            </a:r>
            <a:endParaRPr lang="en-US" sz="3200" dirty="0"/>
          </a:p>
        </p:txBody>
      </p:sp>
      <p:sp>
        <p:nvSpPr>
          <p:cNvPr id="3" name="Text 1"/>
          <p:cNvSpPr txBox="1"/>
          <p:nvPr/>
        </p:nvSpPr>
        <p:spPr>
          <a:xfrm>
            <a:off x="548640" y="987552"/>
            <a:ext cx="9144000" cy="365760"/>
          </a:xfrm>
          <a:prstGeom prst="rect">
            <a:avLst/>
          </a:prstGeom>
          <a:noFill/>
          <a:ln/>
        </p:spPr>
        <p:txBody>
          <a:bodyPr wrap="square" rtlCol="0" anchor="ctr"/>
          <a:lstStyle/>
          <a:p>
            <a:pPr marL="0" indent="0">
              <a:buNone/>
            </a:pPr>
            <a:r>
              <a:rPr lang="en-US" sz="1300" dirty="0">
                <a:solidFill>
                  <a:srgbClr val="5C6B78"/>
                </a:solidFill>
                <a:latin typeface="Calibri" pitchFamily="34" charset="0"/>
                <a:ea typeface="Calibri" pitchFamily="34" charset="-122"/>
                <a:cs typeface="Calibri" pitchFamily="34" charset="-120"/>
              </a:rPr>
              <a:t>Final structured dataset — 42 rows × 9 columns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2824188504"/>
              </p:ext>
            </p:extLst>
          </p:nvPr>
        </p:nvGraphicFramePr>
        <p:xfrm>
          <a:off x="548640" y="1508760"/>
          <a:ext cx="11155680" cy="4572000"/>
        </p:xfrm>
        <a:graphic>
          <a:graphicData uri="http://schemas.openxmlformats.org/drawingml/2006/table">
            <a:tbl>
              <a:tblPr/>
              <a:tblGrid>
                <a:gridCol w="23774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7315200">
                  <a:extLst>
                    <a:ext uri="{9D8B030D-6E8A-4147-A177-3AD203B41FA5}">
                      <a16:colId xmlns:a16="http://schemas.microsoft.com/office/drawing/2014/main" val="20002"/>
                    </a:ext>
                  </a:extLst>
                </a:gridCol>
              </a:tblGrid>
              <a:tr h="4572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Field</a:t>
                      </a:r>
                      <a:endParaRPr lang="en-US" sz="12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21295C"/>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Type</a:t>
                      </a:r>
                      <a:endParaRPr lang="en-US" sz="12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21295C"/>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Description</a:t>
                      </a:r>
                      <a:endParaRPr lang="en-US" sz="12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457200">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Destination</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733"/>
                          </a:solidFill>
                          <a:latin typeface="Calibri" pitchFamily="34" charset="0"/>
                          <a:ea typeface="Calibri" pitchFamily="34" charset="-122"/>
                          <a:cs typeface="Calibri" pitchFamily="34" charset="-120"/>
                        </a:rPr>
                        <a:t>Text</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Region the package belongs to (India, Rajasthan, Himachal, Andaman, Sikkim, Uttarakhand)</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Package_Name</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4F7F9"/>
                    </a:solidFill>
                  </a:tcPr>
                </a:tc>
                <a:tc>
                  <a:txBody>
                    <a:bodyPr/>
                    <a:lstStyle/>
                    <a:p>
                      <a:pPr marL="0" indent="0" algn="ctr">
                        <a:buNone/>
                      </a:pPr>
                      <a:r>
                        <a:rPr lang="en-US" sz="1150" dirty="0">
                          <a:solidFill>
                            <a:srgbClr val="1B2733"/>
                          </a:solidFill>
                          <a:latin typeface="Calibri" pitchFamily="34" charset="0"/>
                          <a:ea typeface="Calibri" pitchFamily="34" charset="-122"/>
                          <a:cs typeface="Calibri" pitchFamily="34" charset="-120"/>
                        </a:rPr>
                        <a:t>Text</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4F7F9"/>
                    </a:solidFill>
                  </a:tcPr>
                </a:tc>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Marketing title of the tour package as listed on the site</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4F7F9"/>
                    </a:solidFill>
                  </a:tcPr>
                </a:tc>
                <a:extLst>
                  <a:ext uri="{0D108BD9-81ED-4DB2-BD59-A6C34878D82A}">
                    <a16:rowId xmlns:a16="http://schemas.microsoft.com/office/drawing/2014/main" val="10002"/>
                  </a:ext>
                </a:extLst>
              </a:tr>
              <a:tr h="457200">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Duration</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733"/>
                          </a:solidFill>
                          <a:latin typeface="Calibri" pitchFamily="34" charset="0"/>
                          <a:ea typeface="Calibri" pitchFamily="34" charset="-122"/>
                          <a:cs typeface="Calibri" pitchFamily="34" charset="-120"/>
                        </a:rPr>
                        <a:t>Text</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Raw trip length, e.g. "4 Nights/5 Days"</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Price</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4F7F9"/>
                    </a:solidFill>
                  </a:tcPr>
                </a:tc>
                <a:tc>
                  <a:txBody>
                    <a:bodyPr/>
                    <a:lstStyle/>
                    <a:p>
                      <a:pPr marL="0" indent="0" algn="ctr">
                        <a:buNone/>
                      </a:pPr>
                      <a:r>
                        <a:rPr lang="en-US" sz="1150" dirty="0">
                          <a:solidFill>
                            <a:srgbClr val="1B2733"/>
                          </a:solidFill>
                          <a:latin typeface="Calibri" pitchFamily="34" charset="0"/>
                          <a:ea typeface="Calibri" pitchFamily="34" charset="-122"/>
                          <a:cs typeface="Calibri" pitchFamily="34" charset="-120"/>
                        </a:rPr>
                        <a:t>Text</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4F7F9"/>
                    </a:solidFill>
                  </a:tcPr>
                </a:tc>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Raw listed price with currency symbol, e.g. "₹7,999/-"</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4F7F9"/>
                    </a:solidFill>
                  </a:tcPr>
                </a:tc>
                <a:extLst>
                  <a:ext uri="{0D108BD9-81ED-4DB2-BD59-A6C34878D82A}">
                    <a16:rowId xmlns:a16="http://schemas.microsoft.com/office/drawing/2014/main" val="10004"/>
                  </a:ext>
                </a:extLst>
              </a:tr>
              <a:tr h="457200">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Inclusions</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733"/>
                          </a:solidFill>
                          <a:latin typeface="Calibri" pitchFamily="34" charset="0"/>
                          <a:ea typeface="Calibri" pitchFamily="34" charset="-122"/>
                          <a:cs typeface="Calibri" pitchFamily="34" charset="-120"/>
                        </a:rPr>
                        <a:t>Text</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Comma-separated list of what's included (hotel stars, meals, transfers, etc.)</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URL</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4F7F9"/>
                    </a:solidFill>
                  </a:tcPr>
                </a:tc>
                <a:tc>
                  <a:txBody>
                    <a:bodyPr/>
                    <a:lstStyle/>
                    <a:p>
                      <a:pPr marL="0" indent="0" algn="ctr">
                        <a:buNone/>
                      </a:pPr>
                      <a:r>
                        <a:rPr lang="en-US" sz="1150" dirty="0">
                          <a:solidFill>
                            <a:srgbClr val="1B2733"/>
                          </a:solidFill>
                          <a:latin typeface="Calibri" pitchFamily="34" charset="0"/>
                          <a:ea typeface="Calibri" pitchFamily="34" charset="-122"/>
                          <a:cs typeface="Calibri" pitchFamily="34" charset="-120"/>
                        </a:rPr>
                        <a:t>Text</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4F7F9"/>
                    </a:solidFill>
                  </a:tcPr>
                </a:tc>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Relative link to the package's detail page</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4F7F9"/>
                    </a:solidFill>
                  </a:tcPr>
                </a:tc>
                <a:extLst>
                  <a:ext uri="{0D108BD9-81ED-4DB2-BD59-A6C34878D82A}">
                    <a16:rowId xmlns:a16="http://schemas.microsoft.com/office/drawing/2014/main" val="10006"/>
                  </a:ext>
                </a:extLst>
              </a:tr>
              <a:tr h="457200">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Price_Numeric</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733"/>
                          </a:solidFill>
                          <a:latin typeface="Calibri" pitchFamily="34" charset="0"/>
                          <a:ea typeface="Calibri" pitchFamily="34" charset="-122"/>
                          <a:cs typeface="Calibri" pitchFamily="34" charset="-120"/>
                        </a:rPr>
                        <a:t>Decimal Number</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Price cleaned to a plain integer/float for analysis</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Nights</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4F7F9"/>
                    </a:solidFill>
                  </a:tcPr>
                </a:tc>
                <a:tc>
                  <a:txBody>
                    <a:bodyPr/>
                    <a:lstStyle/>
                    <a:p>
                      <a:pPr marL="0" indent="0" algn="ctr">
                        <a:buNone/>
                      </a:pPr>
                      <a:r>
                        <a:rPr lang="en-US" sz="1150" dirty="0">
                          <a:solidFill>
                            <a:srgbClr val="1B2733"/>
                          </a:solidFill>
                          <a:latin typeface="Calibri" pitchFamily="34" charset="0"/>
                          <a:ea typeface="Calibri" pitchFamily="34" charset="-122"/>
                          <a:cs typeface="Calibri" pitchFamily="34" charset="-120"/>
                        </a:rPr>
                        <a:t>Whole Number</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4F7F9"/>
                    </a:solidFill>
                  </a:tcPr>
                </a:tc>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Number of nights, extracted from Duration</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4F7F9"/>
                    </a:solidFill>
                  </a:tcPr>
                </a:tc>
                <a:extLst>
                  <a:ext uri="{0D108BD9-81ED-4DB2-BD59-A6C34878D82A}">
                    <a16:rowId xmlns:a16="http://schemas.microsoft.com/office/drawing/2014/main" val="10008"/>
                  </a:ext>
                </a:extLst>
              </a:tr>
              <a:tr h="457200">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Days</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733"/>
                          </a:solidFill>
                          <a:latin typeface="Calibri" pitchFamily="34" charset="0"/>
                          <a:ea typeface="Calibri" pitchFamily="34" charset="-122"/>
                          <a:cs typeface="Calibri" pitchFamily="34" charset="-120"/>
                        </a:rPr>
                        <a:t>Whole Number</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itchFamily="34" charset="0"/>
                          <a:ea typeface="Calibri" pitchFamily="34" charset="-122"/>
                          <a:cs typeface="Calibri" pitchFamily="34" charset="-120"/>
                        </a:rPr>
                        <a:t>Number of days, extracted from Duration</a:t>
                      </a:r>
                      <a:endParaRPr lang="en-US" sz="1150" dirty="0">
                        <a:latin typeface="Calibri" charset="0"/>
                        <a:ea typeface="Calibri" charset="0"/>
                        <a:cs typeface="Calibri" charset="0"/>
                      </a:endParaRPr>
                    </a:p>
                  </a:txBody>
                  <a:tcPr anchor="ctr">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5" name="Text 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TravelTriangle Web Scraping &amp; Analytics Project</a:t>
            </a:r>
            <a:endParaRPr lang="en-US" sz="900" dirty="0"/>
          </a:p>
        </p:txBody>
      </p:sp>
      <p:sp>
        <p:nvSpPr>
          <p:cNvPr id="6" name="Text 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95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Dataset at a Glance</a:t>
            </a:r>
            <a:endParaRPr lang="en-US" sz="3200" dirty="0"/>
          </a:p>
        </p:txBody>
      </p:sp>
      <p:sp>
        <p:nvSpPr>
          <p:cNvPr id="3" name="Text 1"/>
          <p:cNvSpPr txBox="1"/>
          <p:nvPr/>
        </p:nvSpPr>
        <p:spPr>
          <a:xfrm>
            <a:off x="548640" y="1051560"/>
            <a:ext cx="9144000" cy="365760"/>
          </a:xfrm>
          <a:prstGeom prst="rect">
            <a:avLst/>
          </a:prstGeom>
          <a:noFill/>
          <a:ln/>
        </p:spPr>
        <p:txBody>
          <a:bodyPr wrap="square" rtlCol="0" anchor="ctr"/>
          <a:lstStyle/>
          <a:p>
            <a:pPr marL="0" indent="0">
              <a:buNone/>
            </a:pPr>
            <a:r>
              <a:rPr lang="en-US" sz="1400" dirty="0">
                <a:solidFill>
                  <a:srgbClr val="9FB3C8"/>
                </a:solidFill>
                <a:latin typeface="Calibri" pitchFamily="34" charset="0"/>
                <a:ea typeface="Calibri" pitchFamily="34" charset="-122"/>
                <a:cs typeface="Calibri" pitchFamily="34" charset="-120"/>
              </a:rPr>
              <a:t>After scraping, cleaning, and de-duplication</a:t>
            </a:r>
            <a:endParaRPr lang="en-US" sz="1400" dirty="0"/>
          </a:p>
        </p:txBody>
      </p:sp>
      <p:sp>
        <p:nvSpPr>
          <p:cNvPr id="4" name="Shape 2"/>
          <p:cNvSpPr/>
          <p:nvPr/>
        </p:nvSpPr>
        <p:spPr>
          <a:xfrm>
            <a:off x="548640" y="1920240"/>
            <a:ext cx="3520440" cy="1920240"/>
          </a:xfrm>
          <a:prstGeom prst="roundRect">
            <a:avLst>
              <a:gd name="adj" fmla="val 4762"/>
            </a:avLst>
          </a:prstGeom>
          <a:solidFill>
            <a:srgbClr val="1A2148"/>
          </a:solidFill>
          <a:ln/>
        </p:spPr>
      </p:sp>
      <p:sp>
        <p:nvSpPr>
          <p:cNvPr id="5" name="Shape 3"/>
          <p:cNvSpPr/>
          <p:nvPr/>
        </p:nvSpPr>
        <p:spPr>
          <a:xfrm>
            <a:off x="3474720" y="2194560"/>
            <a:ext cx="320040" cy="320040"/>
          </a:xfrm>
          <a:prstGeom prst="ellipse">
            <a:avLst/>
          </a:prstGeom>
          <a:solidFill>
            <a:srgbClr val="F2B134"/>
          </a:solidFill>
          <a:ln/>
        </p:spPr>
      </p:sp>
      <p:sp>
        <p:nvSpPr>
          <p:cNvPr id="6" name="Text 4"/>
          <p:cNvSpPr txBox="1"/>
          <p:nvPr/>
        </p:nvSpPr>
        <p:spPr>
          <a:xfrm>
            <a:off x="868680" y="2148840"/>
            <a:ext cx="2971800" cy="91440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42</a:t>
            </a:r>
            <a:endParaRPr lang="en-US" sz="4200" dirty="0"/>
          </a:p>
        </p:txBody>
      </p:sp>
      <p:sp>
        <p:nvSpPr>
          <p:cNvPr id="7" name="Text 5"/>
          <p:cNvSpPr txBox="1"/>
          <p:nvPr/>
        </p:nvSpPr>
        <p:spPr>
          <a:xfrm>
            <a:off x="868680" y="3154680"/>
            <a:ext cx="2971800" cy="45720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Total Packages</a:t>
            </a:r>
            <a:endParaRPr lang="en-US" sz="1300" dirty="0"/>
          </a:p>
        </p:txBody>
      </p:sp>
      <p:sp>
        <p:nvSpPr>
          <p:cNvPr id="8" name="Shape 6"/>
          <p:cNvSpPr/>
          <p:nvPr/>
        </p:nvSpPr>
        <p:spPr>
          <a:xfrm>
            <a:off x="4325112" y="1920240"/>
            <a:ext cx="3520440" cy="1920240"/>
          </a:xfrm>
          <a:prstGeom prst="roundRect">
            <a:avLst>
              <a:gd name="adj" fmla="val 4762"/>
            </a:avLst>
          </a:prstGeom>
          <a:solidFill>
            <a:srgbClr val="1A2148"/>
          </a:solidFill>
          <a:ln/>
        </p:spPr>
      </p:sp>
      <p:sp>
        <p:nvSpPr>
          <p:cNvPr id="9" name="Shape 7"/>
          <p:cNvSpPr/>
          <p:nvPr/>
        </p:nvSpPr>
        <p:spPr>
          <a:xfrm>
            <a:off x="7251192" y="2194560"/>
            <a:ext cx="320040" cy="320040"/>
          </a:xfrm>
          <a:prstGeom prst="ellipse">
            <a:avLst/>
          </a:prstGeom>
          <a:solidFill>
            <a:srgbClr val="1C7293"/>
          </a:solidFill>
          <a:ln/>
        </p:spPr>
      </p:sp>
      <p:sp>
        <p:nvSpPr>
          <p:cNvPr id="10" name="Text 8"/>
          <p:cNvSpPr txBox="1"/>
          <p:nvPr/>
        </p:nvSpPr>
        <p:spPr>
          <a:xfrm>
            <a:off x="4645152" y="2148840"/>
            <a:ext cx="2971800" cy="91440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6</a:t>
            </a:r>
            <a:endParaRPr lang="en-US" sz="4200" dirty="0"/>
          </a:p>
        </p:txBody>
      </p:sp>
      <p:sp>
        <p:nvSpPr>
          <p:cNvPr id="11" name="Text 9"/>
          <p:cNvSpPr txBox="1"/>
          <p:nvPr/>
        </p:nvSpPr>
        <p:spPr>
          <a:xfrm>
            <a:off x="4645152" y="3154680"/>
            <a:ext cx="2971800" cy="45720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Destinations</a:t>
            </a:r>
            <a:endParaRPr lang="en-US" sz="1300" dirty="0"/>
          </a:p>
        </p:txBody>
      </p:sp>
      <p:sp>
        <p:nvSpPr>
          <p:cNvPr id="12" name="Shape 10"/>
          <p:cNvSpPr/>
          <p:nvPr/>
        </p:nvSpPr>
        <p:spPr>
          <a:xfrm>
            <a:off x="8101584" y="1920240"/>
            <a:ext cx="3520440" cy="1920240"/>
          </a:xfrm>
          <a:prstGeom prst="roundRect">
            <a:avLst>
              <a:gd name="adj" fmla="val 4762"/>
            </a:avLst>
          </a:prstGeom>
          <a:solidFill>
            <a:srgbClr val="1A2148"/>
          </a:solidFill>
          <a:ln/>
        </p:spPr>
      </p:sp>
      <p:sp>
        <p:nvSpPr>
          <p:cNvPr id="13" name="Shape 11"/>
          <p:cNvSpPr/>
          <p:nvPr/>
        </p:nvSpPr>
        <p:spPr>
          <a:xfrm>
            <a:off x="11027664" y="2194560"/>
            <a:ext cx="320040" cy="320040"/>
          </a:xfrm>
          <a:prstGeom prst="ellipse">
            <a:avLst/>
          </a:prstGeom>
          <a:solidFill>
            <a:srgbClr val="065A82"/>
          </a:solidFill>
          <a:ln/>
        </p:spPr>
      </p:sp>
      <p:sp>
        <p:nvSpPr>
          <p:cNvPr id="14" name="Text 12"/>
          <p:cNvSpPr txBox="1"/>
          <p:nvPr/>
        </p:nvSpPr>
        <p:spPr>
          <a:xfrm>
            <a:off x="8421624" y="2148840"/>
            <a:ext cx="2971800" cy="91440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9</a:t>
            </a:r>
            <a:endParaRPr lang="en-US" sz="4200" dirty="0"/>
          </a:p>
        </p:txBody>
      </p:sp>
      <p:sp>
        <p:nvSpPr>
          <p:cNvPr id="15" name="Text 13"/>
          <p:cNvSpPr txBox="1"/>
          <p:nvPr/>
        </p:nvSpPr>
        <p:spPr>
          <a:xfrm>
            <a:off x="8421624" y="3154680"/>
            <a:ext cx="2971800" cy="45720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Data Fields</a:t>
            </a:r>
            <a:endParaRPr lang="en-US" sz="1300" dirty="0"/>
          </a:p>
        </p:txBody>
      </p:sp>
      <p:sp>
        <p:nvSpPr>
          <p:cNvPr id="16" name="Shape 14"/>
          <p:cNvSpPr/>
          <p:nvPr/>
        </p:nvSpPr>
        <p:spPr>
          <a:xfrm>
            <a:off x="548640" y="4096512"/>
            <a:ext cx="3520440" cy="1920240"/>
          </a:xfrm>
          <a:prstGeom prst="roundRect">
            <a:avLst>
              <a:gd name="adj" fmla="val 4762"/>
            </a:avLst>
          </a:prstGeom>
          <a:solidFill>
            <a:srgbClr val="1A2148"/>
          </a:solidFill>
          <a:ln/>
        </p:spPr>
      </p:sp>
      <p:sp>
        <p:nvSpPr>
          <p:cNvPr id="17" name="Shape 15"/>
          <p:cNvSpPr/>
          <p:nvPr/>
        </p:nvSpPr>
        <p:spPr>
          <a:xfrm>
            <a:off x="3474720" y="4370832"/>
            <a:ext cx="320040" cy="320040"/>
          </a:xfrm>
          <a:prstGeom prst="ellipse">
            <a:avLst/>
          </a:prstGeom>
          <a:solidFill>
            <a:srgbClr val="F2B134"/>
          </a:solidFill>
          <a:ln/>
        </p:spPr>
      </p:sp>
      <p:sp>
        <p:nvSpPr>
          <p:cNvPr id="18" name="Text 16"/>
          <p:cNvSpPr txBox="1"/>
          <p:nvPr/>
        </p:nvSpPr>
        <p:spPr>
          <a:xfrm>
            <a:off x="868680" y="4325112"/>
            <a:ext cx="2971800" cy="91440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0</a:t>
            </a:r>
            <a:endParaRPr lang="en-US" sz="4200" dirty="0"/>
          </a:p>
        </p:txBody>
      </p:sp>
      <p:sp>
        <p:nvSpPr>
          <p:cNvPr id="19" name="Text 17"/>
          <p:cNvSpPr txBox="1"/>
          <p:nvPr/>
        </p:nvSpPr>
        <p:spPr>
          <a:xfrm>
            <a:off x="868680" y="5330952"/>
            <a:ext cx="2971800" cy="45720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Missing Values</a:t>
            </a:r>
            <a:endParaRPr lang="en-US" sz="1300" dirty="0"/>
          </a:p>
        </p:txBody>
      </p:sp>
      <p:sp>
        <p:nvSpPr>
          <p:cNvPr id="20" name="Shape 18"/>
          <p:cNvSpPr/>
          <p:nvPr/>
        </p:nvSpPr>
        <p:spPr>
          <a:xfrm>
            <a:off x="4325112" y="4096512"/>
            <a:ext cx="3520440" cy="1920240"/>
          </a:xfrm>
          <a:prstGeom prst="roundRect">
            <a:avLst>
              <a:gd name="adj" fmla="val 4762"/>
            </a:avLst>
          </a:prstGeom>
          <a:solidFill>
            <a:srgbClr val="1A2148"/>
          </a:solidFill>
          <a:ln/>
        </p:spPr>
      </p:sp>
      <p:sp>
        <p:nvSpPr>
          <p:cNvPr id="21" name="Shape 19"/>
          <p:cNvSpPr/>
          <p:nvPr/>
        </p:nvSpPr>
        <p:spPr>
          <a:xfrm>
            <a:off x="7251192" y="4370832"/>
            <a:ext cx="320040" cy="320040"/>
          </a:xfrm>
          <a:prstGeom prst="ellipse">
            <a:avLst/>
          </a:prstGeom>
          <a:solidFill>
            <a:srgbClr val="1C7293"/>
          </a:solidFill>
          <a:ln/>
        </p:spPr>
      </p:sp>
      <p:sp>
        <p:nvSpPr>
          <p:cNvPr id="22" name="Text 20"/>
          <p:cNvSpPr txBox="1"/>
          <p:nvPr/>
        </p:nvSpPr>
        <p:spPr>
          <a:xfrm>
            <a:off x="4645152" y="4325112"/>
            <a:ext cx="2971800" cy="91440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0</a:t>
            </a:r>
            <a:endParaRPr lang="en-US" sz="4200" dirty="0"/>
          </a:p>
        </p:txBody>
      </p:sp>
      <p:sp>
        <p:nvSpPr>
          <p:cNvPr id="23" name="Text 21"/>
          <p:cNvSpPr txBox="1"/>
          <p:nvPr/>
        </p:nvSpPr>
        <p:spPr>
          <a:xfrm>
            <a:off x="4645152" y="5330952"/>
            <a:ext cx="2971800" cy="45720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Duplicate Rows</a:t>
            </a:r>
            <a:endParaRPr lang="en-US" sz="1300" dirty="0"/>
          </a:p>
        </p:txBody>
      </p:sp>
      <p:sp>
        <p:nvSpPr>
          <p:cNvPr id="24" name="Shape 22"/>
          <p:cNvSpPr/>
          <p:nvPr/>
        </p:nvSpPr>
        <p:spPr>
          <a:xfrm>
            <a:off x="8101584" y="4096512"/>
            <a:ext cx="3520440" cy="1920240"/>
          </a:xfrm>
          <a:prstGeom prst="roundRect">
            <a:avLst>
              <a:gd name="adj" fmla="val 4762"/>
            </a:avLst>
          </a:prstGeom>
          <a:solidFill>
            <a:srgbClr val="1A2148"/>
          </a:solidFill>
          <a:ln/>
        </p:spPr>
      </p:sp>
      <p:sp>
        <p:nvSpPr>
          <p:cNvPr id="25" name="Shape 23"/>
          <p:cNvSpPr/>
          <p:nvPr/>
        </p:nvSpPr>
        <p:spPr>
          <a:xfrm>
            <a:off x="11027664" y="4370832"/>
            <a:ext cx="320040" cy="320040"/>
          </a:xfrm>
          <a:prstGeom prst="ellipse">
            <a:avLst/>
          </a:prstGeom>
          <a:solidFill>
            <a:srgbClr val="065A82"/>
          </a:solidFill>
          <a:ln/>
        </p:spPr>
      </p:sp>
      <p:sp>
        <p:nvSpPr>
          <p:cNvPr id="26" name="Text 24"/>
          <p:cNvSpPr txBox="1"/>
          <p:nvPr/>
        </p:nvSpPr>
        <p:spPr>
          <a:xfrm>
            <a:off x="8421624" y="4325112"/>
            <a:ext cx="2971800" cy="91440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100%</a:t>
            </a:r>
            <a:endParaRPr lang="en-US" sz="4200" dirty="0"/>
          </a:p>
        </p:txBody>
      </p:sp>
      <p:sp>
        <p:nvSpPr>
          <p:cNvPr id="27" name="Text 25"/>
          <p:cNvSpPr txBox="1"/>
          <p:nvPr/>
        </p:nvSpPr>
        <p:spPr>
          <a:xfrm>
            <a:off x="8421624" y="5330952"/>
            <a:ext cx="2971800" cy="45720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Rows With Valid Price</a:t>
            </a:r>
            <a:endParaRPr lang="en-US" sz="1300" dirty="0"/>
          </a:p>
        </p:txBody>
      </p:sp>
      <p:sp>
        <p:nvSpPr>
          <p:cNvPr id="28" name="Text 26"/>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FB3C8"/>
                </a:solidFill>
                <a:latin typeface="Calibri" pitchFamily="34" charset="0"/>
                <a:ea typeface="Calibri" pitchFamily="34" charset="-122"/>
                <a:cs typeface="Calibri" pitchFamily="34" charset="-120"/>
              </a:rPr>
              <a:t>TravelTriangle Web Scraping &amp; Analytics Project</a:t>
            </a:r>
            <a:endParaRPr lang="en-US" sz="900" dirty="0"/>
          </a:p>
        </p:txBody>
      </p:sp>
      <p:sp>
        <p:nvSpPr>
          <p:cNvPr id="29" name="Text 2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058400" cy="64008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Exploratory Data Analysis — Pricing</a:t>
            </a:r>
            <a:endParaRPr lang="en-US" sz="3000" dirty="0"/>
          </a:p>
        </p:txBody>
      </p:sp>
      <p:sp>
        <p:nvSpPr>
          <p:cNvPr id="3" name="Shape 1"/>
          <p:cNvSpPr/>
          <p:nvPr/>
        </p:nvSpPr>
        <p:spPr>
          <a:xfrm>
            <a:off x="548640" y="1051560"/>
            <a:ext cx="11064240" cy="18288"/>
          </a:xfrm>
          <a:prstGeom prst="rect">
            <a:avLst/>
          </a:prstGeom>
          <a:solidFill>
            <a:srgbClr val="F4F7F9"/>
          </a:solidFill>
          <a:ln/>
        </p:spPr>
      </p:sp>
      <p:sp>
        <p:nvSpPr>
          <p:cNvPr id="4" name="Shape 2"/>
          <p:cNvSpPr/>
          <p:nvPr/>
        </p:nvSpPr>
        <p:spPr>
          <a:xfrm>
            <a:off x="548640" y="1325880"/>
            <a:ext cx="3246120" cy="1234440"/>
          </a:xfrm>
          <a:prstGeom prst="roundRect">
            <a:avLst>
              <a:gd name="adj" fmla="val 7407"/>
            </a:avLst>
          </a:prstGeom>
          <a:solidFill>
            <a:srgbClr val="F4F7F9"/>
          </a:solidFill>
          <a:ln/>
        </p:spPr>
      </p:sp>
      <p:sp>
        <p:nvSpPr>
          <p:cNvPr id="5" name="Text 3"/>
          <p:cNvSpPr txBox="1"/>
          <p:nvPr/>
        </p:nvSpPr>
        <p:spPr>
          <a:xfrm>
            <a:off x="731520" y="1490472"/>
            <a:ext cx="2880360" cy="594360"/>
          </a:xfrm>
          <a:prstGeom prst="rect">
            <a:avLst/>
          </a:prstGeom>
          <a:noFill/>
          <a:ln/>
        </p:spPr>
        <p:txBody>
          <a:bodyPr wrap="square" rtlCol="0" anchor="ctr"/>
          <a:lstStyle/>
          <a:p>
            <a:pPr marL="0" indent="0">
              <a:buNone/>
            </a:pPr>
            <a:r>
              <a:rPr lang="en-US" sz="2400" b="1" dirty="0">
                <a:solidFill>
                  <a:srgbClr val="065A82"/>
                </a:solidFill>
                <a:latin typeface="Cambria" pitchFamily="34" charset="0"/>
                <a:ea typeface="Cambria" pitchFamily="34" charset="-122"/>
                <a:cs typeface="Cambria" pitchFamily="34" charset="-120"/>
              </a:rPr>
              <a:t>₹18,878</a:t>
            </a:r>
            <a:endParaRPr lang="en-US" sz="2400" dirty="0"/>
          </a:p>
        </p:txBody>
      </p:sp>
      <p:sp>
        <p:nvSpPr>
          <p:cNvPr id="6" name="Text 4"/>
          <p:cNvSpPr txBox="1"/>
          <p:nvPr/>
        </p:nvSpPr>
        <p:spPr>
          <a:xfrm>
            <a:off x="731520" y="2103120"/>
            <a:ext cx="2880360" cy="365760"/>
          </a:xfrm>
          <a:prstGeom prst="rect">
            <a:avLst/>
          </a:prstGeom>
          <a:noFill/>
          <a:ln/>
        </p:spPr>
        <p:txBody>
          <a:bodyPr wrap="square" rtlCol="0" anchor="ctr"/>
          <a:lstStyle/>
          <a:p>
            <a:pPr marL="0" indent="0">
              <a:buNone/>
            </a:pPr>
            <a:r>
              <a:rPr lang="en-US" sz="1150" dirty="0">
                <a:solidFill>
                  <a:srgbClr val="5C6B78"/>
                </a:solidFill>
                <a:latin typeface="Calibri" pitchFamily="34" charset="0"/>
                <a:ea typeface="Calibri" pitchFamily="34" charset="-122"/>
                <a:cs typeface="Calibri" pitchFamily="34" charset="-120"/>
              </a:rPr>
              <a:t>Average Price</a:t>
            </a:r>
            <a:endParaRPr lang="en-US" sz="1150" dirty="0"/>
          </a:p>
        </p:txBody>
      </p:sp>
      <p:sp>
        <p:nvSpPr>
          <p:cNvPr id="7" name="Shape 5"/>
          <p:cNvSpPr/>
          <p:nvPr/>
        </p:nvSpPr>
        <p:spPr>
          <a:xfrm>
            <a:off x="4023360" y="1325880"/>
            <a:ext cx="3246120" cy="1234440"/>
          </a:xfrm>
          <a:prstGeom prst="roundRect">
            <a:avLst>
              <a:gd name="adj" fmla="val 7407"/>
            </a:avLst>
          </a:prstGeom>
          <a:solidFill>
            <a:srgbClr val="F4F7F9"/>
          </a:solidFill>
          <a:ln/>
        </p:spPr>
      </p:sp>
      <p:sp>
        <p:nvSpPr>
          <p:cNvPr id="8" name="Text 6"/>
          <p:cNvSpPr txBox="1"/>
          <p:nvPr/>
        </p:nvSpPr>
        <p:spPr>
          <a:xfrm>
            <a:off x="4206240" y="1490472"/>
            <a:ext cx="2880360" cy="594360"/>
          </a:xfrm>
          <a:prstGeom prst="rect">
            <a:avLst/>
          </a:prstGeom>
          <a:noFill/>
          <a:ln/>
        </p:spPr>
        <p:txBody>
          <a:bodyPr wrap="square" rtlCol="0" anchor="ctr"/>
          <a:lstStyle/>
          <a:p>
            <a:pPr marL="0" indent="0">
              <a:buNone/>
            </a:pPr>
            <a:r>
              <a:rPr lang="en-US" sz="2400" b="1" dirty="0">
                <a:solidFill>
                  <a:srgbClr val="1C7293"/>
                </a:solidFill>
                <a:latin typeface="Cambria" pitchFamily="34" charset="0"/>
                <a:ea typeface="Cambria" pitchFamily="34" charset="-122"/>
                <a:cs typeface="Cambria" pitchFamily="34" charset="-120"/>
              </a:rPr>
              <a:t>₹16,400</a:t>
            </a:r>
            <a:endParaRPr lang="en-US" sz="2400" dirty="0"/>
          </a:p>
        </p:txBody>
      </p:sp>
      <p:sp>
        <p:nvSpPr>
          <p:cNvPr id="9" name="Text 7"/>
          <p:cNvSpPr txBox="1"/>
          <p:nvPr/>
        </p:nvSpPr>
        <p:spPr>
          <a:xfrm>
            <a:off x="4206240" y="2103120"/>
            <a:ext cx="2880360" cy="365760"/>
          </a:xfrm>
          <a:prstGeom prst="rect">
            <a:avLst/>
          </a:prstGeom>
          <a:noFill/>
          <a:ln/>
        </p:spPr>
        <p:txBody>
          <a:bodyPr wrap="square" rtlCol="0" anchor="ctr"/>
          <a:lstStyle/>
          <a:p>
            <a:pPr marL="0" indent="0">
              <a:buNone/>
            </a:pPr>
            <a:r>
              <a:rPr lang="en-US" sz="1150" dirty="0">
                <a:solidFill>
                  <a:srgbClr val="5C6B78"/>
                </a:solidFill>
                <a:latin typeface="Calibri" pitchFamily="34" charset="0"/>
                <a:ea typeface="Calibri" pitchFamily="34" charset="-122"/>
                <a:cs typeface="Calibri" pitchFamily="34" charset="-120"/>
              </a:rPr>
              <a:t>Median Price</a:t>
            </a:r>
            <a:endParaRPr lang="en-US" sz="1150" dirty="0"/>
          </a:p>
        </p:txBody>
      </p:sp>
      <p:sp>
        <p:nvSpPr>
          <p:cNvPr id="10" name="Shape 8"/>
          <p:cNvSpPr/>
          <p:nvPr/>
        </p:nvSpPr>
        <p:spPr>
          <a:xfrm>
            <a:off x="548640" y="2761488"/>
            <a:ext cx="3246120" cy="1234440"/>
          </a:xfrm>
          <a:prstGeom prst="roundRect">
            <a:avLst>
              <a:gd name="adj" fmla="val 7407"/>
            </a:avLst>
          </a:prstGeom>
          <a:solidFill>
            <a:srgbClr val="F4F7F9"/>
          </a:solidFill>
          <a:ln/>
        </p:spPr>
      </p:sp>
      <p:sp>
        <p:nvSpPr>
          <p:cNvPr id="11" name="Text 9"/>
          <p:cNvSpPr txBox="1"/>
          <p:nvPr/>
        </p:nvSpPr>
        <p:spPr>
          <a:xfrm>
            <a:off x="731520" y="2926080"/>
            <a:ext cx="2880360" cy="594360"/>
          </a:xfrm>
          <a:prstGeom prst="rect">
            <a:avLst/>
          </a:prstGeom>
          <a:noFill/>
          <a:ln/>
        </p:spPr>
        <p:txBody>
          <a:bodyPr wrap="square" rtlCol="0" anchor="ctr"/>
          <a:lstStyle/>
          <a:p>
            <a:pPr marL="0" indent="0">
              <a:buNone/>
            </a:pPr>
            <a:r>
              <a:rPr lang="en-US" sz="2400" b="1" dirty="0">
                <a:solidFill>
                  <a:srgbClr val="F2B134"/>
                </a:solidFill>
                <a:latin typeface="Cambria" pitchFamily="34" charset="0"/>
                <a:ea typeface="Cambria" pitchFamily="34" charset="-122"/>
                <a:cs typeface="Cambria" pitchFamily="34" charset="-120"/>
              </a:rPr>
              <a:t>₹2,500</a:t>
            </a:r>
            <a:endParaRPr lang="en-US" sz="2400" dirty="0"/>
          </a:p>
        </p:txBody>
      </p:sp>
      <p:sp>
        <p:nvSpPr>
          <p:cNvPr id="12" name="Text 10"/>
          <p:cNvSpPr txBox="1"/>
          <p:nvPr/>
        </p:nvSpPr>
        <p:spPr>
          <a:xfrm>
            <a:off x="731520" y="3538728"/>
            <a:ext cx="2880360" cy="365760"/>
          </a:xfrm>
          <a:prstGeom prst="rect">
            <a:avLst/>
          </a:prstGeom>
          <a:noFill/>
          <a:ln/>
        </p:spPr>
        <p:txBody>
          <a:bodyPr wrap="square" rtlCol="0" anchor="ctr"/>
          <a:lstStyle/>
          <a:p>
            <a:pPr marL="0" indent="0">
              <a:buNone/>
            </a:pPr>
            <a:r>
              <a:rPr lang="en-US" sz="1150" dirty="0">
                <a:solidFill>
                  <a:srgbClr val="5C6B78"/>
                </a:solidFill>
                <a:latin typeface="Calibri" pitchFamily="34" charset="0"/>
                <a:ea typeface="Calibri" pitchFamily="34" charset="-122"/>
                <a:cs typeface="Calibri" pitchFamily="34" charset="-120"/>
              </a:rPr>
              <a:t>Minimum Price</a:t>
            </a:r>
            <a:endParaRPr lang="en-US" sz="1150" dirty="0"/>
          </a:p>
        </p:txBody>
      </p:sp>
      <p:sp>
        <p:nvSpPr>
          <p:cNvPr id="13" name="Shape 11"/>
          <p:cNvSpPr/>
          <p:nvPr/>
        </p:nvSpPr>
        <p:spPr>
          <a:xfrm>
            <a:off x="4023360" y="2761488"/>
            <a:ext cx="3246120" cy="1234440"/>
          </a:xfrm>
          <a:prstGeom prst="roundRect">
            <a:avLst>
              <a:gd name="adj" fmla="val 7407"/>
            </a:avLst>
          </a:prstGeom>
          <a:solidFill>
            <a:srgbClr val="F4F7F9"/>
          </a:solidFill>
          <a:ln/>
        </p:spPr>
      </p:sp>
      <p:sp>
        <p:nvSpPr>
          <p:cNvPr id="14" name="Text 12"/>
          <p:cNvSpPr txBox="1"/>
          <p:nvPr/>
        </p:nvSpPr>
        <p:spPr>
          <a:xfrm>
            <a:off x="4206240" y="2926080"/>
            <a:ext cx="2880360" cy="594360"/>
          </a:xfrm>
          <a:prstGeom prst="rect">
            <a:avLst/>
          </a:prstGeom>
          <a:noFill/>
          <a:ln/>
        </p:spPr>
        <p:txBody>
          <a:bodyPr wrap="square"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₹38,500</a:t>
            </a:r>
            <a:endParaRPr lang="en-US" sz="2400" dirty="0"/>
          </a:p>
        </p:txBody>
      </p:sp>
      <p:sp>
        <p:nvSpPr>
          <p:cNvPr id="15" name="Text 13"/>
          <p:cNvSpPr txBox="1"/>
          <p:nvPr/>
        </p:nvSpPr>
        <p:spPr>
          <a:xfrm>
            <a:off x="4206240" y="3538728"/>
            <a:ext cx="2880360" cy="365760"/>
          </a:xfrm>
          <a:prstGeom prst="rect">
            <a:avLst/>
          </a:prstGeom>
          <a:noFill/>
          <a:ln/>
        </p:spPr>
        <p:txBody>
          <a:bodyPr wrap="square" rtlCol="0" anchor="ctr"/>
          <a:lstStyle/>
          <a:p>
            <a:pPr marL="0" indent="0">
              <a:buNone/>
            </a:pPr>
            <a:r>
              <a:rPr lang="en-US" sz="1150" dirty="0">
                <a:solidFill>
                  <a:srgbClr val="5C6B78"/>
                </a:solidFill>
                <a:latin typeface="Calibri" pitchFamily="34" charset="0"/>
                <a:ea typeface="Calibri" pitchFamily="34" charset="-122"/>
                <a:cs typeface="Calibri" pitchFamily="34" charset="-120"/>
              </a:rPr>
              <a:t>Maximum Price</a:t>
            </a:r>
            <a:endParaRPr lang="en-US" sz="1150" dirty="0"/>
          </a:p>
        </p:txBody>
      </p:sp>
      <p:sp>
        <p:nvSpPr>
          <p:cNvPr id="16" name="Text 14"/>
          <p:cNvSpPr txBox="1"/>
          <p:nvPr/>
        </p:nvSpPr>
        <p:spPr>
          <a:xfrm>
            <a:off x="548640" y="4160520"/>
            <a:ext cx="6766560" cy="1005840"/>
          </a:xfrm>
          <a:prstGeom prst="rect">
            <a:avLst/>
          </a:prstGeom>
          <a:noFill/>
          <a:ln/>
        </p:spPr>
        <p:txBody>
          <a:bodyPr wrap="square" rtlCol="0" anchor="ctr"/>
          <a:lstStyle/>
          <a:p>
            <a:pPr marL="0" indent="0">
              <a:lnSpc>
                <a:spcPct val="125000"/>
              </a:lnSpc>
              <a:buNone/>
            </a:pPr>
            <a:r>
              <a:rPr lang="en-US" sz="1250" dirty="0">
                <a:solidFill>
                  <a:srgbClr val="1B2733"/>
                </a:solidFill>
                <a:latin typeface="Calibri" pitchFamily="34" charset="0"/>
                <a:ea typeface="Calibri" pitchFamily="34" charset="-122"/>
                <a:cs typeface="Calibri" pitchFamily="34" charset="-120"/>
              </a:rPr>
              <a:t>Prices range widely (₹2,500 – ₹38,500) reflecting a mix of short budget getaways and longer premium itineraries. The median (₹16,400) sitting below the mean (₹18,878) shows a handful of high-priced long-duration packages pull the average upward.</a:t>
            </a:r>
            <a:endParaRPr lang="en-US" sz="1250" dirty="0"/>
          </a:p>
        </p:txBody>
      </p:sp>
      <p:sp>
        <p:nvSpPr>
          <p:cNvPr id="17" name="Text 15"/>
          <p:cNvSpPr txBox="1"/>
          <p:nvPr/>
        </p:nvSpPr>
        <p:spPr>
          <a:xfrm>
            <a:off x="548640" y="5257800"/>
            <a:ext cx="5486400" cy="274320"/>
          </a:xfrm>
          <a:prstGeom prst="rect">
            <a:avLst/>
          </a:prstGeom>
          <a:noFill/>
          <a:ln/>
        </p:spPr>
        <p:txBody>
          <a:bodyPr wrap="square"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Hotel Category Mix (Inclusions)</a:t>
            </a:r>
            <a:endParaRPr lang="en-US" sz="1250" dirty="0"/>
          </a:p>
        </p:txBody>
      </p:sp>
      <p:sp>
        <p:nvSpPr>
          <p:cNvPr id="18" name="Text 16"/>
          <p:cNvSpPr txBox="1"/>
          <p:nvPr/>
        </p:nvSpPr>
        <p:spPr>
          <a:xfrm>
            <a:off x="548640" y="5596128"/>
            <a:ext cx="1371600" cy="256032"/>
          </a:xfrm>
          <a:prstGeom prst="rect">
            <a:avLst/>
          </a:prstGeom>
          <a:noFill/>
          <a:ln/>
        </p:spPr>
        <p:txBody>
          <a:bodyPr wrap="square" rtlCol="0" anchor="ctr"/>
          <a:lstStyle/>
          <a:p>
            <a:pPr marL="0" indent="0">
              <a:buNone/>
            </a:pPr>
            <a:r>
              <a:rPr lang="en-US" sz="1050" dirty="0">
                <a:solidFill>
                  <a:srgbClr val="1B2733"/>
                </a:solidFill>
                <a:latin typeface="Calibri" pitchFamily="34" charset="0"/>
                <a:ea typeface="Calibri" pitchFamily="34" charset="-122"/>
                <a:cs typeface="Calibri" pitchFamily="34" charset="-120"/>
              </a:rPr>
              <a:t>Up to 3-star</a:t>
            </a:r>
            <a:endParaRPr lang="en-US" sz="1050" dirty="0"/>
          </a:p>
        </p:txBody>
      </p:sp>
      <p:sp>
        <p:nvSpPr>
          <p:cNvPr id="19" name="Shape 17"/>
          <p:cNvSpPr/>
          <p:nvPr/>
        </p:nvSpPr>
        <p:spPr>
          <a:xfrm>
            <a:off x="1965960" y="5614416"/>
            <a:ext cx="3291840" cy="201168"/>
          </a:xfrm>
          <a:prstGeom prst="rect">
            <a:avLst/>
          </a:prstGeom>
          <a:solidFill>
            <a:srgbClr val="065A82"/>
          </a:solidFill>
          <a:ln/>
        </p:spPr>
      </p:sp>
      <p:sp>
        <p:nvSpPr>
          <p:cNvPr id="20" name="Text 18"/>
          <p:cNvSpPr txBox="1"/>
          <p:nvPr/>
        </p:nvSpPr>
        <p:spPr>
          <a:xfrm>
            <a:off x="5349240" y="5596128"/>
            <a:ext cx="548640" cy="256032"/>
          </a:xfrm>
          <a:prstGeom prst="rect">
            <a:avLst/>
          </a:prstGeom>
          <a:noFill/>
          <a:ln/>
        </p:spPr>
        <p:txBody>
          <a:bodyPr wrap="square" rtlCol="0" anchor="ctr"/>
          <a:lstStyle/>
          <a:p>
            <a:pPr marL="0" indent="0">
              <a:buNone/>
            </a:pPr>
            <a:r>
              <a:rPr lang="en-US" sz="1050" b="1" dirty="0">
                <a:solidFill>
                  <a:srgbClr val="1B2733"/>
                </a:solidFill>
                <a:latin typeface="Calibri" pitchFamily="34" charset="0"/>
                <a:ea typeface="Calibri" pitchFamily="34" charset="-122"/>
                <a:cs typeface="Calibri" pitchFamily="34" charset="-120"/>
              </a:rPr>
              <a:t>22</a:t>
            </a:r>
            <a:endParaRPr lang="en-US" sz="1050" dirty="0"/>
          </a:p>
        </p:txBody>
      </p:sp>
      <p:sp>
        <p:nvSpPr>
          <p:cNvPr id="21" name="Text 19"/>
          <p:cNvSpPr txBox="1"/>
          <p:nvPr/>
        </p:nvSpPr>
        <p:spPr>
          <a:xfrm>
            <a:off x="548640" y="5925312"/>
            <a:ext cx="1371600" cy="256032"/>
          </a:xfrm>
          <a:prstGeom prst="rect">
            <a:avLst/>
          </a:prstGeom>
          <a:noFill/>
          <a:ln/>
        </p:spPr>
        <p:txBody>
          <a:bodyPr wrap="square" rtlCol="0" anchor="ctr"/>
          <a:lstStyle/>
          <a:p>
            <a:pPr marL="0" indent="0">
              <a:buNone/>
            </a:pPr>
            <a:r>
              <a:rPr lang="en-US" sz="1050" dirty="0">
                <a:solidFill>
                  <a:srgbClr val="1B2733"/>
                </a:solidFill>
                <a:latin typeface="Calibri" pitchFamily="34" charset="0"/>
                <a:ea typeface="Calibri" pitchFamily="34" charset="-122"/>
                <a:cs typeface="Calibri" pitchFamily="34" charset="-120"/>
              </a:rPr>
              <a:t>Up to 2-star</a:t>
            </a:r>
            <a:endParaRPr lang="en-US" sz="1050" dirty="0"/>
          </a:p>
        </p:txBody>
      </p:sp>
      <p:sp>
        <p:nvSpPr>
          <p:cNvPr id="22" name="Shape 20"/>
          <p:cNvSpPr/>
          <p:nvPr/>
        </p:nvSpPr>
        <p:spPr>
          <a:xfrm>
            <a:off x="1965960" y="5943600"/>
            <a:ext cx="2094807" cy="201168"/>
          </a:xfrm>
          <a:prstGeom prst="rect">
            <a:avLst/>
          </a:prstGeom>
          <a:solidFill>
            <a:srgbClr val="1C7293"/>
          </a:solidFill>
          <a:ln/>
        </p:spPr>
      </p:sp>
      <p:sp>
        <p:nvSpPr>
          <p:cNvPr id="23" name="Text 21"/>
          <p:cNvSpPr txBox="1"/>
          <p:nvPr/>
        </p:nvSpPr>
        <p:spPr>
          <a:xfrm>
            <a:off x="4152207" y="5925312"/>
            <a:ext cx="548640" cy="256032"/>
          </a:xfrm>
          <a:prstGeom prst="rect">
            <a:avLst/>
          </a:prstGeom>
          <a:noFill/>
          <a:ln/>
        </p:spPr>
        <p:txBody>
          <a:bodyPr wrap="square" rtlCol="0" anchor="ctr"/>
          <a:lstStyle/>
          <a:p>
            <a:pPr marL="0" indent="0">
              <a:buNone/>
            </a:pPr>
            <a:r>
              <a:rPr lang="en-US" sz="1050" b="1" dirty="0">
                <a:solidFill>
                  <a:srgbClr val="1B2733"/>
                </a:solidFill>
                <a:latin typeface="Calibri" pitchFamily="34" charset="0"/>
                <a:ea typeface="Calibri" pitchFamily="34" charset="-122"/>
                <a:cs typeface="Calibri" pitchFamily="34" charset="-120"/>
              </a:rPr>
              <a:t>14</a:t>
            </a:r>
            <a:endParaRPr lang="en-US" sz="1050" dirty="0"/>
          </a:p>
        </p:txBody>
      </p:sp>
      <p:sp>
        <p:nvSpPr>
          <p:cNvPr id="24" name="Text 22"/>
          <p:cNvSpPr txBox="1"/>
          <p:nvPr/>
        </p:nvSpPr>
        <p:spPr>
          <a:xfrm>
            <a:off x="548640" y="6254496"/>
            <a:ext cx="1371600" cy="256032"/>
          </a:xfrm>
          <a:prstGeom prst="rect">
            <a:avLst/>
          </a:prstGeom>
          <a:noFill/>
          <a:ln/>
        </p:spPr>
        <p:txBody>
          <a:bodyPr wrap="square" rtlCol="0" anchor="ctr"/>
          <a:lstStyle/>
          <a:p>
            <a:pPr marL="0" indent="0">
              <a:buNone/>
            </a:pPr>
            <a:r>
              <a:rPr lang="en-US" sz="1050" dirty="0">
                <a:solidFill>
                  <a:srgbClr val="1B2733"/>
                </a:solidFill>
                <a:latin typeface="Calibri" pitchFamily="34" charset="0"/>
                <a:ea typeface="Calibri" pitchFamily="34" charset="-122"/>
                <a:cs typeface="Calibri" pitchFamily="34" charset="-120"/>
              </a:rPr>
              <a:t>Up to 4-star</a:t>
            </a:r>
            <a:endParaRPr lang="en-US" sz="1050" dirty="0"/>
          </a:p>
        </p:txBody>
      </p:sp>
      <p:sp>
        <p:nvSpPr>
          <p:cNvPr id="25" name="Shape 23"/>
          <p:cNvSpPr/>
          <p:nvPr/>
        </p:nvSpPr>
        <p:spPr>
          <a:xfrm>
            <a:off x="1965960" y="6272784"/>
            <a:ext cx="897775" cy="201168"/>
          </a:xfrm>
          <a:prstGeom prst="rect">
            <a:avLst/>
          </a:prstGeom>
          <a:solidFill>
            <a:srgbClr val="F2B134"/>
          </a:solidFill>
          <a:ln/>
        </p:spPr>
      </p:sp>
      <p:sp>
        <p:nvSpPr>
          <p:cNvPr id="26" name="Text 24"/>
          <p:cNvSpPr txBox="1"/>
          <p:nvPr/>
        </p:nvSpPr>
        <p:spPr>
          <a:xfrm>
            <a:off x="2955175" y="6254496"/>
            <a:ext cx="548640" cy="256032"/>
          </a:xfrm>
          <a:prstGeom prst="rect">
            <a:avLst/>
          </a:prstGeom>
          <a:noFill/>
          <a:ln/>
        </p:spPr>
        <p:txBody>
          <a:bodyPr wrap="square" rtlCol="0" anchor="ctr"/>
          <a:lstStyle/>
          <a:p>
            <a:pPr marL="0" indent="0">
              <a:buNone/>
            </a:pPr>
            <a:r>
              <a:rPr lang="en-US" sz="1050" b="1" dirty="0">
                <a:solidFill>
                  <a:srgbClr val="1B2733"/>
                </a:solidFill>
                <a:latin typeface="Calibri" pitchFamily="34" charset="0"/>
                <a:ea typeface="Calibri" pitchFamily="34" charset="-122"/>
                <a:cs typeface="Calibri" pitchFamily="34" charset="-120"/>
              </a:rPr>
              <a:t>6</a:t>
            </a:r>
            <a:endParaRPr lang="en-US" sz="1050" dirty="0"/>
          </a:p>
        </p:txBody>
      </p:sp>
      <p:sp>
        <p:nvSpPr>
          <p:cNvPr id="27" name="Shape 25"/>
          <p:cNvSpPr/>
          <p:nvPr/>
        </p:nvSpPr>
        <p:spPr>
          <a:xfrm>
            <a:off x="7772400" y="1325880"/>
            <a:ext cx="3840480" cy="4846320"/>
          </a:xfrm>
          <a:prstGeom prst="roundRect">
            <a:avLst>
              <a:gd name="adj" fmla="val 2857"/>
            </a:avLst>
          </a:prstGeom>
          <a:solidFill>
            <a:srgbClr val="21295C"/>
          </a:solidFill>
          <a:ln/>
        </p:spPr>
      </p:sp>
      <p:pic>
        <p:nvPicPr>
          <p:cNvPr id="28" name="Image 0" descr="/home/claude/icons/chartline.png"/>
          <p:cNvPicPr>
            <a:picLocks noChangeAspect="1"/>
          </p:cNvPicPr>
          <p:nvPr/>
        </p:nvPicPr>
        <p:blipFill>
          <a:blip r:embed="rId3"/>
          <a:stretch>
            <a:fillRect/>
          </a:stretch>
        </p:blipFill>
        <p:spPr>
          <a:xfrm>
            <a:off x="9052560" y="1691640"/>
            <a:ext cx="1097280" cy="1097280"/>
          </a:xfrm>
          <a:prstGeom prst="rect">
            <a:avLst/>
          </a:prstGeom>
        </p:spPr>
      </p:pic>
      <p:sp>
        <p:nvSpPr>
          <p:cNvPr id="29" name="Text 26"/>
          <p:cNvSpPr txBox="1"/>
          <p:nvPr/>
        </p:nvSpPr>
        <p:spPr>
          <a:xfrm>
            <a:off x="8046720" y="2926080"/>
            <a:ext cx="32918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Price spread is wide</a:t>
            </a:r>
            <a:endParaRPr lang="en-US" sz="1400" dirty="0"/>
          </a:p>
        </p:txBody>
      </p:sp>
      <p:sp>
        <p:nvSpPr>
          <p:cNvPr id="30" name="Text 27"/>
          <p:cNvSpPr txBox="1"/>
          <p:nvPr/>
        </p:nvSpPr>
        <p:spPr>
          <a:xfrm>
            <a:off x="8046720" y="3337560"/>
            <a:ext cx="3291840" cy="1371600"/>
          </a:xfrm>
          <a:prstGeom prst="rect">
            <a:avLst/>
          </a:prstGeom>
          <a:noFill/>
          <a:ln/>
        </p:spPr>
        <p:txBody>
          <a:bodyPr wrap="square" rtlCol="0" anchor="ctr"/>
          <a:lstStyle/>
          <a:p>
            <a:pPr marL="0" indent="0" algn="ctr">
              <a:lnSpc>
                <a:spcPct val="125000"/>
              </a:lnSpc>
              <a:buNone/>
            </a:pPr>
            <a:r>
              <a:rPr lang="en-US" sz="1200" dirty="0">
                <a:solidFill>
                  <a:srgbClr val="CADCFC"/>
                </a:solidFill>
                <a:latin typeface="Calibri" pitchFamily="34" charset="0"/>
                <a:ea typeface="Calibri" pitchFamily="34" charset="-122"/>
                <a:cs typeface="Calibri" pitchFamily="34" charset="-120"/>
              </a:rPr>
              <a:t>Max price is over 15× the minimum — destination and trip length explain most of the gap (see next slides).</a:t>
            </a:r>
            <a:endParaRPr lang="en-US" sz="1200" dirty="0"/>
          </a:p>
        </p:txBody>
      </p:sp>
      <p:sp>
        <p:nvSpPr>
          <p:cNvPr id="31" name="Text 28"/>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TravelTriangle Web Scraping &amp; Analytics Project</a:t>
            </a:r>
            <a:endParaRPr lang="en-US" sz="900" dirty="0"/>
          </a:p>
        </p:txBody>
      </p:sp>
      <p:sp>
        <p:nvSpPr>
          <p:cNvPr id="32" name="Text 29"/>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51560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Average Package Price by Destination</a:t>
            </a:r>
            <a:endParaRPr lang="en-US" sz="2800" dirty="0"/>
          </a:p>
        </p:txBody>
      </p:sp>
      <p:sp>
        <p:nvSpPr>
          <p:cNvPr id="3" name="Shape 1"/>
          <p:cNvSpPr/>
          <p:nvPr/>
        </p:nvSpPr>
        <p:spPr>
          <a:xfrm>
            <a:off x="548640" y="1005840"/>
            <a:ext cx="11064240" cy="18288"/>
          </a:xfrm>
          <a:prstGeom prst="rect">
            <a:avLst/>
          </a:prstGeom>
          <a:solidFill>
            <a:srgbClr val="F4F7F9"/>
          </a:solidFill>
          <a:ln/>
        </p:spPr>
      </p:sp>
      <p:graphicFrame>
        <p:nvGraphicFramePr>
          <p:cNvPr id="4" name="Chart 0"/>
          <p:cNvGraphicFramePr/>
          <p:nvPr/>
        </p:nvGraphicFramePr>
        <p:xfrm>
          <a:off x="548640" y="1280160"/>
          <a:ext cx="749808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321040" y="1280160"/>
            <a:ext cx="3291840" cy="4846320"/>
          </a:xfrm>
          <a:prstGeom prst="roundRect">
            <a:avLst>
              <a:gd name="adj" fmla="val 3333"/>
            </a:avLst>
          </a:prstGeom>
          <a:solidFill>
            <a:srgbClr val="F4F7F9"/>
          </a:solidFill>
          <a:ln/>
        </p:spPr>
      </p:sp>
      <p:sp>
        <p:nvSpPr>
          <p:cNvPr id="6" name="Text 3"/>
          <p:cNvSpPr txBox="1"/>
          <p:nvPr/>
        </p:nvSpPr>
        <p:spPr>
          <a:xfrm>
            <a:off x="8549640" y="1508760"/>
            <a:ext cx="2834640" cy="320040"/>
          </a:xfrm>
          <a:prstGeom prst="rect">
            <a:avLst/>
          </a:prstGeom>
          <a:noFill/>
          <a:ln/>
        </p:spPr>
        <p:txBody>
          <a:bodyPr wrap="square" rtlCol="0" anchor="ctr"/>
          <a:lstStyle/>
          <a:p>
            <a:pPr marL="0" indent="0">
              <a:buNone/>
            </a:pPr>
            <a:r>
              <a:rPr lang="en-US" sz="1100" b="1" kern="0" spc="120" dirty="0">
                <a:solidFill>
                  <a:srgbClr val="21295C"/>
                </a:solidFill>
                <a:latin typeface="Calibri" pitchFamily="34" charset="0"/>
                <a:ea typeface="Calibri" pitchFamily="34" charset="-122"/>
                <a:cs typeface="Calibri" pitchFamily="34" charset="-120"/>
              </a:rPr>
              <a:t>READING THE CHART</a:t>
            </a:r>
            <a:endParaRPr lang="en-US" sz="1100" dirty="0"/>
          </a:p>
        </p:txBody>
      </p:sp>
      <p:sp>
        <p:nvSpPr>
          <p:cNvPr id="7" name="Shape 4"/>
          <p:cNvSpPr/>
          <p:nvPr/>
        </p:nvSpPr>
        <p:spPr>
          <a:xfrm>
            <a:off x="8549640" y="2020824"/>
            <a:ext cx="91440" cy="91440"/>
          </a:xfrm>
          <a:prstGeom prst="ellipse">
            <a:avLst/>
          </a:prstGeom>
          <a:solidFill>
            <a:srgbClr val="F2B134"/>
          </a:solidFill>
          <a:ln/>
        </p:spPr>
      </p:sp>
      <p:sp>
        <p:nvSpPr>
          <p:cNvPr id="8" name="Text 5"/>
          <p:cNvSpPr txBox="1"/>
          <p:nvPr/>
        </p:nvSpPr>
        <p:spPr>
          <a:xfrm>
            <a:off x="8778240" y="1874520"/>
            <a:ext cx="2651760" cy="777240"/>
          </a:xfrm>
          <a:prstGeom prst="rect">
            <a:avLst/>
          </a:prstGeom>
          <a:noFill/>
          <a:ln/>
        </p:spPr>
        <p:txBody>
          <a:bodyPr wrap="square" rtlCol="0" anchor="ctr"/>
          <a:lstStyle/>
          <a:p>
            <a:pPr marL="0" indent="0">
              <a:lnSpc>
                <a:spcPct val="115000"/>
              </a:lnSpc>
              <a:buNone/>
            </a:pPr>
            <a:r>
              <a:rPr lang="en-US" sz="1100" dirty="0">
                <a:solidFill>
                  <a:srgbClr val="1B2733"/>
                </a:solidFill>
                <a:latin typeface="Calibri" pitchFamily="34" charset="0"/>
                <a:ea typeface="Calibri" pitchFamily="34" charset="-122"/>
                <a:cs typeface="Calibri" pitchFamily="34" charset="-120"/>
              </a:rPr>
              <a:t>Sikkim is the most expensive destination on average (₹25,462)</a:t>
            </a:r>
            <a:endParaRPr lang="en-US" sz="1100" dirty="0"/>
          </a:p>
        </p:txBody>
      </p:sp>
      <p:sp>
        <p:nvSpPr>
          <p:cNvPr id="9" name="Shape 6"/>
          <p:cNvSpPr/>
          <p:nvPr/>
        </p:nvSpPr>
        <p:spPr>
          <a:xfrm>
            <a:off x="8549640" y="2935224"/>
            <a:ext cx="91440" cy="91440"/>
          </a:xfrm>
          <a:prstGeom prst="ellipse">
            <a:avLst/>
          </a:prstGeom>
          <a:solidFill>
            <a:srgbClr val="F2B134"/>
          </a:solidFill>
          <a:ln/>
        </p:spPr>
      </p:sp>
      <p:sp>
        <p:nvSpPr>
          <p:cNvPr id="10" name="Text 7"/>
          <p:cNvSpPr txBox="1"/>
          <p:nvPr/>
        </p:nvSpPr>
        <p:spPr>
          <a:xfrm>
            <a:off x="8778240" y="2788920"/>
            <a:ext cx="2651760" cy="777240"/>
          </a:xfrm>
          <a:prstGeom prst="rect">
            <a:avLst/>
          </a:prstGeom>
          <a:noFill/>
          <a:ln/>
        </p:spPr>
        <p:txBody>
          <a:bodyPr wrap="square" rtlCol="0" anchor="ctr"/>
          <a:lstStyle/>
          <a:p>
            <a:pPr marL="0" indent="0">
              <a:lnSpc>
                <a:spcPct val="115000"/>
              </a:lnSpc>
              <a:buNone/>
            </a:pPr>
            <a:r>
              <a:rPr lang="en-US" sz="1100" dirty="0">
                <a:solidFill>
                  <a:srgbClr val="1B2733"/>
                </a:solidFill>
                <a:latin typeface="Calibri" pitchFamily="34" charset="0"/>
                <a:ea typeface="Calibri" pitchFamily="34" charset="-122"/>
                <a:cs typeface="Calibri" pitchFamily="34" charset="-120"/>
              </a:rPr>
              <a:t>Uttarakhand is the most budget-friendly (₹10,104)</a:t>
            </a:r>
            <a:endParaRPr lang="en-US" sz="1100" dirty="0"/>
          </a:p>
        </p:txBody>
      </p:sp>
      <p:sp>
        <p:nvSpPr>
          <p:cNvPr id="11" name="Shape 8"/>
          <p:cNvSpPr/>
          <p:nvPr/>
        </p:nvSpPr>
        <p:spPr>
          <a:xfrm>
            <a:off x="8549640" y="3849624"/>
            <a:ext cx="91440" cy="91440"/>
          </a:xfrm>
          <a:prstGeom prst="ellipse">
            <a:avLst/>
          </a:prstGeom>
          <a:solidFill>
            <a:srgbClr val="F2B134"/>
          </a:solidFill>
          <a:ln/>
        </p:spPr>
      </p:sp>
      <p:sp>
        <p:nvSpPr>
          <p:cNvPr id="12" name="Text 9"/>
          <p:cNvSpPr txBox="1"/>
          <p:nvPr/>
        </p:nvSpPr>
        <p:spPr>
          <a:xfrm>
            <a:off x="8778240" y="3703320"/>
            <a:ext cx="2651760" cy="777240"/>
          </a:xfrm>
          <a:prstGeom prst="rect">
            <a:avLst/>
          </a:prstGeom>
          <a:noFill/>
          <a:ln/>
        </p:spPr>
        <p:txBody>
          <a:bodyPr wrap="square" rtlCol="0" anchor="ctr"/>
          <a:lstStyle/>
          <a:p>
            <a:pPr marL="0" indent="0">
              <a:lnSpc>
                <a:spcPct val="115000"/>
              </a:lnSpc>
              <a:buNone/>
            </a:pPr>
            <a:r>
              <a:rPr lang="en-US" sz="1100" dirty="0">
                <a:solidFill>
                  <a:srgbClr val="1B2733"/>
                </a:solidFill>
                <a:latin typeface="Calibri" pitchFamily="34" charset="0"/>
                <a:ea typeface="Calibri" pitchFamily="34" charset="-122"/>
                <a:cs typeface="Calibri" pitchFamily="34" charset="-120"/>
              </a:rPr>
              <a:t>Andaman and Himachal command premium pricing, likely reflecting longer trips and remote logistics</a:t>
            </a:r>
            <a:endParaRPr lang="en-US" sz="1100" dirty="0"/>
          </a:p>
        </p:txBody>
      </p:sp>
      <p:sp>
        <p:nvSpPr>
          <p:cNvPr id="13" name="Shape 10"/>
          <p:cNvSpPr/>
          <p:nvPr/>
        </p:nvSpPr>
        <p:spPr>
          <a:xfrm>
            <a:off x="8549640" y="4764024"/>
            <a:ext cx="91440" cy="91440"/>
          </a:xfrm>
          <a:prstGeom prst="ellipse">
            <a:avLst/>
          </a:prstGeom>
          <a:solidFill>
            <a:srgbClr val="F2B134"/>
          </a:solidFill>
          <a:ln/>
        </p:spPr>
      </p:sp>
      <p:sp>
        <p:nvSpPr>
          <p:cNvPr id="14" name="Text 11"/>
          <p:cNvSpPr txBox="1"/>
          <p:nvPr/>
        </p:nvSpPr>
        <p:spPr>
          <a:xfrm>
            <a:off x="8778240" y="4617720"/>
            <a:ext cx="2651760" cy="777240"/>
          </a:xfrm>
          <a:prstGeom prst="rect">
            <a:avLst/>
          </a:prstGeom>
          <a:noFill/>
          <a:ln/>
        </p:spPr>
        <p:txBody>
          <a:bodyPr wrap="square" rtlCol="0" anchor="ctr"/>
          <a:lstStyle/>
          <a:p>
            <a:pPr marL="0" indent="0">
              <a:lnSpc>
                <a:spcPct val="115000"/>
              </a:lnSpc>
              <a:buNone/>
            </a:pPr>
            <a:r>
              <a:rPr lang="en-US" sz="1100" dirty="0">
                <a:solidFill>
                  <a:srgbClr val="1B2733"/>
                </a:solidFill>
                <a:latin typeface="Calibri" pitchFamily="34" charset="0"/>
                <a:ea typeface="Calibri" pitchFamily="34" charset="-122"/>
                <a:cs typeface="Calibri" pitchFamily="34" charset="-120"/>
              </a:rPr>
              <a:t>Price gap between cheapest and priciest destination is over ₹15,000</a:t>
            </a:r>
            <a:endParaRPr lang="en-US" sz="1100" dirty="0"/>
          </a:p>
        </p:txBody>
      </p:sp>
      <p:sp>
        <p:nvSpPr>
          <p:cNvPr id="15" name="Text 1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TravelTriangle Web Scraping &amp; Analytics Project</a:t>
            </a:r>
            <a:endParaRPr lang="en-US" sz="900" dirty="0"/>
          </a:p>
        </p:txBody>
      </p:sp>
      <p:sp>
        <p:nvSpPr>
          <p:cNvPr id="16" name="Text 1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51560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Package Availability &amp; Trip Length</a:t>
            </a:r>
            <a:endParaRPr lang="en-US" sz="2800" dirty="0"/>
          </a:p>
        </p:txBody>
      </p:sp>
      <p:sp>
        <p:nvSpPr>
          <p:cNvPr id="3" name="Shape 1"/>
          <p:cNvSpPr/>
          <p:nvPr/>
        </p:nvSpPr>
        <p:spPr>
          <a:xfrm>
            <a:off x="548640" y="1005840"/>
            <a:ext cx="11064240" cy="18288"/>
          </a:xfrm>
          <a:prstGeom prst="rect">
            <a:avLst/>
          </a:prstGeom>
          <a:solidFill>
            <a:srgbClr val="F4F7F9"/>
          </a:solidFill>
          <a:ln/>
        </p:spPr>
      </p:sp>
      <p:sp>
        <p:nvSpPr>
          <p:cNvPr id="4" name="Text 2"/>
          <p:cNvSpPr txBox="1"/>
          <p:nvPr/>
        </p:nvSpPr>
        <p:spPr>
          <a:xfrm>
            <a:off x="548640" y="1234440"/>
            <a:ext cx="5303520" cy="320040"/>
          </a:xfrm>
          <a:prstGeom prst="rect">
            <a:avLst/>
          </a:prstGeom>
          <a:noFill/>
          <a:ln/>
        </p:spPr>
        <p:txBody>
          <a:bodyPr wrap="square"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Packages per Destination</a:t>
            </a:r>
            <a:endParaRPr lang="en-US" sz="1300" dirty="0"/>
          </a:p>
        </p:txBody>
      </p:sp>
      <p:graphicFrame>
        <p:nvGraphicFramePr>
          <p:cNvPr id="5" name="Chart 0"/>
          <p:cNvGraphicFramePr/>
          <p:nvPr/>
        </p:nvGraphicFramePr>
        <p:xfrm>
          <a:off x="457200" y="1554480"/>
          <a:ext cx="548640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6309360" y="1234440"/>
            <a:ext cx="5303520" cy="320040"/>
          </a:xfrm>
          <a:prstGeom prst="rect">
            <a:avLst/>
          </a:prstGeom>
          <a:noFill/>
          <a:ln/>
        </p:spPr>
        <p:txBody>
          <a:bodyPr wrap="square"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Average Trip Length (Days) by Destination</a:t>
            </a:r>
            <a:endParaRPr lang="en-US" sz="1300" dirty="0"/>
          </a:p>
        </p:txBody>
      </p:sp>
      <p:graphicFrame>
        <p:nvGraphicFramePr>
          <p:cNvPr id="7" name="Chart 1"/>
          <p:cNvGraphicFramePr/>
          <p:nvPr/>
        </p:nvGraphicFramePr>
        <p:xfrm>
          <a:off x="6217920" y="1554480"/>
          <a:ext cx="548640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548640" y="4114800"/>
            <a:ext cx="11064240" cy="1874520"/>
          </a:xfrm>
          <a:prstGeom prst="roundRect">
            <a:avLst>
              <a:gd name="adj" fmla="val 4878"/>
            </a:avLst>
          </a:prstGeom>
          <a:solidFill>
            <a:srgbClr val="F4F7F9"/>
          </a:solidFill>
          <a:ln/>
        </p:spPr>
      </p:sp>
      <p:sp>
        <p:nvSpPr>
          <p:cNvPr id="9" name="Text 5"/>
          <p:cNvSpPr txBox="1"/>
          <p:nvPr/>
        </p:nvSpPr>
        <p:spPr>
          <a:xfrm>
            <a:off x="868680" y="4315968"/>
            <a:ext cx="7315200" cy="32004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Key Observation</a:t>
            </a:r>
            <a:endParaRPr lang="en-US" sz="1300" dirty="0"/>
          </a:p>
        </p:txBody>
      </p:sp>
      <p:sp>
        <p:nvSpPr>
          <p:cNvPr id="10" name="Text 6"/>
          <p:cNvSpPr txBox="1"/>
          <p:nvPr/>
        </p:nvSpPr>
        <p:spPr>
          <a:xfrm>
            <a:off x="868680" y="4663440"/>
            <a:ext cx="10424160" cy="1188720"/>
          </a:xfrm>
          <a:prstGeom prst="rect">
            <a:avLst/>
          </a:prstGeom>
          <a:noFill/>
          <a:ln/>
        </p:spPr>
        <p:txBody>
          <a:bodyPr wrap="square" rtlCol="0" anchor="ctr"/>
          <a:lstStyle/>
          <a:p>
            <a:pPr marL="0" indent="0">
              <a:lnSpc>
                <a:spcPct val="125000"/>
              </a:lnSpc>
              <a:buNone/>
            </a:pPr>
            <a:r>
              <a:rPr lang="en-US" sz="1250" dirty="0">
                <a:solidFill>
                  <a:srgbClr val="1B2733"/>
                </a:solidFill>
                <a:latin typeface="Calibri" pitchFamily="34" charset="0"/>
                <a:ea typeface="Calibri" pitchFamily="34" charset="-122"/>
                <a:cs typeface="Calibri" pitchFamily="34" charset="-120"/>
              </a:rPr>
              <a:t>Package supply is evenly balanced across all six destinations (7 listings each) after cleaning, so no single region dominates availability. Trip length varies more: Himachal packages run longest on average (6.6 days), while Uttarakhand and India favor shorter getaways — consistent with Uttarakhand's lower average price on the previous slide.</a:t>
            </a:r>
            <a:endParaRPr lang="en-US" sz="1250" dirty="0"/>
          </a:p>
        </p:txBody>
      </p:sp>
      <p:sp>
        <p:nvSpPr>
          <p:cNvPr id="11" name="Text 7"/>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TravelTriangle Web Scraping &amp; Analytics Project</a:t>
            </a:r>
            <a:endParaRPr lang="en-US" sz="900" dirty="0"/>
          </a:p>
        </p:txBody>
      </p:sp>
      <p:sp>
        <p:nvSpPr>
          <p:cNvPr id="12" name="Text 8"/>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Price vs. Trip Duration</a:t>
            </a:r>
            <a:endParaRPr lang="en-US" sz="3000" dirty="0"/>
          </a:p>
        </p:txBody>
      </p:sp>
      <p:sp>
        <p:nvSpPr>
          <p:cNvPr id="3" name="Shape 1"/>
          <p:cNvSpPr/>
          <p:nvPr/>
        </p:nvSpPr>
        <p:spPr>
          <a:xfrm>
            <a:off x="548640" y="1005840"/>
            <a:ext cx="11064240" cy="18288"/>
          </a:xfrm>
          <a:prstGeom prst="rect">
            <a:avLst/>
          </a:prstGeom>
          <a:solidFill>
            <a:srgbClr val="F4F7F9"/>
          </a:solidFill>
          <a:ln/>
        </p:spPr>
      </p:sp>
      <p:graphicFrame>
        <p:nvGraphicFramePr>
          <p:cNvPr id="4" name="Chart 0"/>
          <p:cNvGraphicFramePr/>
          <p:nvPr/>
        </p:nvGraphicFramePr>
        <p:xfrm>
          <a:off x="548640" y="1325880"/>
          <a:ext cx="694944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772400" y="1325880"/>
            <a:ext cx="3840480" cy="2011680"/>
          </a:xfrm>
          <a:prstGeom prst="roundRect">
            <a:avLst>
              <a:gd name="adj" fmla="val 5455"/>
            </a:avLst>
          </a:prstGeom>
          <a:solidFill>
            <a:srgbClr val="21295C"/>
          </a:solidFill>
          <a:ln/>
        </p:spPr>
      </p:sp>
      <p:sp>
        <p:nvSpPr>
          <p:cNvPr id="6" name="Text 3"/>
          <p:cNvSpPr txBox="1"/>
          <p:nvPr/>
        </p:nvSpPr>
        <p:spPr>
          <a:xfrm>
            <a:off x="7772400" y="1508760"/>
            <a:ext cx="3840480" cy="914400"/>
          </a:xfrm>
          <a:prstGeom prst="rect">
            <a:avLst/>
          </a:prstGeom>
          <a:noFill/>
          <a:ln/>
        </p:spPr>
        <p:txBody>
          <a:bodyPr wrap="square" rtlCol="0" anchor="ctr"/>
          <a:lstStyle/>
          <a:p>
            <a:pPr marL="0" indent="0" algn="ctr">
              <a:buNone/>
            </a:pPr>
            <a:r>
              <a:rPr lang="en-US" sz="4800" b="1" dirty="0">
                <a:solidFill>
                  <a:srgbClr val="F2B134"/>
                </a:solidFill>
                <a:latin typeface="Cambria" pitchFamily="34" charset="0"/>
                <a:ea typeface="Cambria" pitchFamily="34" charset="-122"/>
                <a:cs typeface="Cambria" pitchFamily="34" charset="-120"/>
              </a:rPr>
              <a:t>0.88</a:t>
            </a:r>
            <a:endParaRPr lang="en-US" sz="4800" dirty="0"/>
          </a:p>
        </p:txBody>
      </p:sp>
      <p:sp>
        <p:nvSpPr>
          <p:cNvPr id="7" name="Text 4"/>
          <p:cNvSpPr txBox="1"/>
          <p:nvPr/>
        </p:nvSpPr>
        <p:spPr>
          <a:xfrm>
            <a:off x="7955280" y="2423160"/>
            <a:ext cx="3474720" cy="777240"/>
          </a:xfrm>
          <a:prstGeom prst="rect">
            <a:avLst/>
          </a:prstGeom>
          <a:noFill/>
          <a:ln/>
        </p:spPr>
        <p:txBody>
          <a:bodyPr wrap="square" rtlCol="0" anchor="ctr"/>
          <a:lstStyle/>
          <a:p>
            <a:pPr marL="0" indent="0" algn="ctr">
              <a:lnSpc>
                <a:spcPct val="120000"/>
              </a:lnSpc>
              <a:buNone/>
            </a:pPr>
            <a:r>
              <a:rPr lang="en-US" sz="1200" dirty="0">
                <a:solidFill>
                  <a:srgbClr val="FFFFFF"/>
                </a:solidFill>
                <a:latin typeface="Calibri" pitchFamily="34" charset="0"/>
                <a:ea typeface="Calibri" pitchFamily="34" charset="-122"/>
                <a:cs typeface="Calibri" pitchFamily="34" charset="-120"/>
              </a:rPr>
              <a:t>Correlation between price and trip duration (days)</a:t>
            </a:r>
            <a:endParaRPr lang="en-US" sz="1200" dirty="0"/>
          </a:p>
        </p:txBody>
      </p:sp>
      <p:sp>
        <p:nvSpPr>
          <p:cNvPr id="8" name="Shape 5"/>
          <p:cNvSpPr/>
          <p:nvPr/>
        </p:nvSpPr>
        <p:spPr>
          <a:xfrm>
            <a:off x="7772400" y="3520440"/>
            <a:ext cx="3840480" cy="2560320"/>
          </a:xfrm>
          <a:prstGeom prst="roundRect">
            <a:avLst>
              <a:gd name="adj" fmla="val 4286"/>
            </a:avLst>
          </a:prstGeom>
          <a:solidFill>
            <a:srgbClr val="F4F7F9"/>
          </a:solidFill>
          <a:ln/>
        </p:spPr>
      </p:sp>
      <p:sp>
        <p:nvSpPr>
          <p:cNvPr id="9" name="Text 6"/>
          <p:cNvSpPr txBox="1"/>
          <p:nvPr/>
        </p:nvSpPr>
        <p:spPr>
          <a:xfrm>
            <a:off x="8001000" y="3703320"/>
            <a:ext cx="3383280" cy="32004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What this means</a:t>
            </a:r>
            <a:endParaRPr lang="en-US" sz="1300" dirty="0"/>
          </a:p>
        </p:txBody>
      </p:sp>
      <p:sp>
        <p:nvSpPr>
          <p:cNvPr id="10" name="Text 7"/>
          <p:cNvSpPr txBox="1"/>
          <p:nvPr/>
        </p:nvSpPr>
        <p:spPr>
          <a:xfrm>
            <a:off x="8001000" y="4069080"/>
            <a:ext cx="3383280" cy="1828800"/>
          </a:xfrm>
          <a:prstGeom prst="rect">
            <a:avLst/>
          </a:prstGeom>
          <a:noFill/>
          <a:ln/>
        </p:spPr>
        <p:txBody>
          <a:bodyPr wrap="square" rtlCol="0" anchor="ctr"/>
          <a:lstStyle/>
          <a:p>
            <a:pPr marL="0" indent="0">
              <a:lnSpc>
                <a:spcPct val="125000"/>
              </a:lnSpc>
              <a:buNone/>
            </a:pPr>
            <a:r>
              <a:rPr lang="en-US" sz="1200" dirty="0">
                <a:solidFill>
                  <a:srgbClr val="1B2733"/>
                </a:solidFill>
                <a:latin typeface="Calibri" pitchFamily="34" charset="0"/>
                <a:ea typeface="Calibri" pitchFamily="34" charset="-122"/>
                <a:cs typeface="Calibri" pitchFamily="34" charset="-120"/>
              </a:rPr>
              <a:t>Duration is a strong driver of price — longer trips are reliably priced higher. This confirms trip length can be used as a quick, practical proxy for expected package cost when comparing offers or setting pricing benchmarks.</a:t>
            </a:r>
            <a:endParaRPr lang="en-US" sz="1200" dirty="0"/>
          </a:p>
        </p:txBody>
      </p:sp>
      <p:sp>
        <p:nvSpPr>
          <p:cNvPr id="11" name="Text 8"/>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TravelTriangle Web Scraping &amp; Analytics Project</a:t>
            </a:r>
            <a:endParaRPr lang="en-US" sz="900" dirty="0"/>
          </a:p>
        </p:txBody>
      </p:sp>
      <p:sp>
        <p:nvSpPr>
          <p:cNvPr id="12" name="Text 9"/>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51560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Business Insights &amp; Recommendations</a:t>
            </a:r>
            <a:endParaRPr lang="en-US" sz="2800" dirty="0"/>
          </a:p>
        </p:txBody>
      </p:sp>
      <p:sp>
        <p:nvSpPr>
          <p:cNvPr id="3" name="Shape 1"/>
          <p:cNvSpPr/>
          <p:nvPr/>
        </p:nvSpPr>
        <p:spPr>
          <a:xfrm>
            <a:off x="548640" y="1005840"/>
            <a:ext cx="11064240" cy="18288"/>
          </a:xfrm>
          <a:prstGeom prst="rect">
            <a:avLst/>
          </a:prstGeom>
          <a:solidFill>
            <a:srgbClr val="F4F7F9"/>
          </a:solidFill>
          <a:ln/>
        </p:spPr>
      </p:sp>
      <p:sp>
        <p:nvSpPr>
          <p:cNvPr id="4" name="Shape 2"/>
          <p:cNvSpPr/>
          <p:nvPr/>
        </p:nvSpPr>
        <p:spPr>
          <a:xfrm>
            <a:off x="548640" y="1280160"/>
            <a:ext cx="3566160" cy="2331720"/>
          </a:xfrm>
          <a:prstGeom prst="roundRect">
            <a:avLst>
              <a:gd name="adj" fmla="val 3922"/>
            </a:avLst>
          </a:prstGeom>
          <a:solidFill>
            <a:srgbClr val="F4F7F9"/>
          </a:solidFill>
          <a:ln/>
        </p:spPr>
      </p:sp>
      <p:sp>
        <p:nvSpPr>
          <p:cNvPr id="5" name="Shape 3"/>
          <p:cNvSpPr/>
          <p:nvPr/>
        </p:nvSpPr>
        <p:spPr>
          <a:xfrm>
            <a:off x="777240" y="1508760"/>
            <a:ext cx="502920" cy="502920"/>
          </a:xfrm>
          <a:prstGeom prst="ellipse">
            <a:avLst/>
          </a:prstGeom>
          <a:solidFill>
            <a:srgbClr val="065A82"/>
          </a:solidFill>
          <a:ln/>
        </p:spPr>
      </p:sp>
      <p:pic>
        <p:nvPicPr>
          <p:cNvPr id="6" name="Image 0" descr="/home/claude/icons/chartline.png"/>
          <p:cNvPicPr>
            <a:picLocks noChangeAspect="1"/>
          </p:cNvPicPr>
          <p:nvPr/>
        </p:nvPicPr>
        <p:blipFill>
          <a:blip r:embed="rId3"/>
          <a:stretch>
            <a:fillRect/>
          </a:stretch>
        </p:blipFill>
        <p:spPr>
          <a:xfrm>
            <a:off x="907999" y="1639519"/>
            <a:ext cx="241402" cy="241402"/>
          </a:xfrm>
          <a:prstGeom prst="rect">
            <a:avLst/>
          </a:prstGeom>
        </p:spPr>
      </p:pic>
      <p:sp>
        <p:nvSpPr>
          <p:cNvPr id="7" name="Text 4"/>
          <p:cNvSpPr txBox="1"/>
          <p:nvPr/>
        </p:nvSpPr>
        <p:spPr>
          <a:xfrm>
            <a:off x="777240" y="2148840"/>
            <a:ext cx="3108960" cy="594360"/>
          </a:xfrm>
          <a:prstGeom prst="rect">
            <a:avLst/>
          </a:prstGeom>
          <a:noFill/>
          <a:ln/>
        </p:spPr>
        <p:txBody>
          <a:bodyPr wrap="square" rtlCol="0" anchor="ctr"/>
          <a:lstStyle/>
          <a:p>
            <a:pPr marL="0" indent="0">
              <a:lnSpc>
                <a:spcPct val="110000"/>
              </a:lnSpc>
              <a:buNone/>
            </a:pPr>
            <a:r>
              <a:rPr lang="en-US" sz="1250" b="1" dirty="0">
                <a:solidFill>
                  <a:srgbClr val="21295C"/>
                </a:solidFill>
                <a:latin typeface="Calibri" pitchFamily="34" charset="0"/>
                <a:ea typeface="Calibri" pitchFamily="34" charset="-122"/>
                <a:cs typeface="Calibri" pitchFamily="34" charset="-120"/>
              </a:rPr>
              <a:t>Sikkim commands premium pricing</a:t>
            </a:r>
            <a:endParaRPr lang="en-US" sz="1250" dirty="0"/>
          </a:p>
        </p:txBody>
      </p:sp>
      <p:sp>
        <p:nvSpPr>
          <p:cNvPr id="8" name="Text 5"/>
          <p:cNvSpPr txBox="1"/>
          <p:nvPr/>
        </p:nvSpPr>
        <p:spPr>
          <a:xfrm>
            <a:off x="777240" y="2743200"/>
            <a:ext cx="3108960" cy="777240"/>
          </a:xfrm>
          <a:prstGeom prst="rect">
            <a:avLst/>
          </a:prstGeom>
          <a:noFill/>
          <a:ln/>
        </p:spPr>
        <p:txBody>
          <a:bodyPr wrap="square" rtlCol="0" anchor="ctr"/>
          <a:lstStyle/>
          <a:p>
            <a:pPr marL="0" indent="0">
              <a:lnSpc>
                <a:spcPct val="115000"/>
              </a:lnSpc>
              <a:buNone/>
            </a:pPr>
            <a:r>
              <a:rPr lang="en-US" sz="1050" dirty="0">
                <a:solidFill>
                  <a:srgbClr val="1B2733"/>
                </a:solidFill>
                <a:latin typeface="Calibri" pitchFamily="34" charset="0"/>
                <a:ea typeface="Calibri" pitchFamily="34" charset="-122"/>
                <a:cs typeface="Calibri" pitchFamily="34" charset="-120"/>
              </a:rPr>
              <a:t>Highest average price (₹25,462) — position it as a premium/curated offering rather than competing on price.</a:t>
            </a:r>
            <a:endParaRPr lang="en-US" sz="1050" dirty="0"/>
          </a:p>
        </p:txBody>
      </p:sp>
      <p:sp>
        <p:nvSpPr>
          <p:cNvPr id="9" name="Shape 6"/>
          <p:cNvSpPr/>
          <p:nvPr/>
        </p:nvSpPr>
        <p:spPr>
          <a:xfrm>
            <a:off x="4343400" y="1280160"/>
            <a:ext cx="3566160" cy="2331720"/>
          </a:xfrm>
          <a:prstGeom prst="roundRect">
            <a:avLst>
              <a:gd name="adj" fmla="val 3922"/>
            </a:avLst>
          </a:prstGeom>
          <a:solidFill>
            <a:srgbClr val="F4F7F9"/>
          </a:solidFill>
          <a:ln/>
        </p:spPr>
      </p:sp>
      <p:sp>
        <p:nvSpPr>
          <p:cNvPr id="10" name="Shape 7"/>
          <p:cNvSpPr/>
          <p:nvPr/>
        </p:nvSpPr>
        <p:spPr>
          <a:xfrm>
            <a:off x="4572000" y="1508760"/>
            <a:ext cx="502920" cy="502920"/>
          </a:xfrm>
          <a:prstGeom prst="ellipse">
            <a:avLst/>
          </a:prstGeom>
          <a:solidFill>
            <a:srgbClr val="065A82"/>
          </a:solidFill>
          <a:ln/>
        </p:spPr>
      </p:sp>
      <p:pic>
        <p:nvPicPr>
          <p:cNvPr id="11" name="Image 1" descr="/home/claude/icons/tags.png"/>
          <p:cNvPicPr>
            <a:picLocks noChangeAspect="1"/>
          </p:cNvPicPr>
          <p:nvPr/>
        </p:nvPicPr>
        <p:blipFill>
          <a:blip r:embed="rId4"/>
          <a:stretch>
            <a:fillRect/>
          </a:stretch>
        </p:blipFill>
        <p:spPr>
          <a:xfrm>
            <a:off x="4702759" y="1639519"/>
            <a:ext cx="241402" cy="241402"/>
          </a:xfrm>
          <a:prstGeom prst="rect">
            <a:avLst/>
          </a:prstGeom>
        </p:spPr>
      </p:pic>
      <p:sp>
        <p:nvSpPr>
          <p:cNvPr id="12" name="Text 8"/>
          <p:cNvSpPr txBox="1"/>
          <p:nvPr/>
        </p:nvSpPr>
        <p:spPr>
          <a:xfrm>
            <a:off x="4572000" y="2148840"/>
            <a:ext cx="3108960" cy="594360"/>
          </a:xfrm>
          <a:prstGeom prst="rect">
            <a:avLst/>
          </a:prstGeom>
          <a:noFill/>
          <a:ln/>
        </p:spPr>
        <p:txBody>
          <a:bodyPr wrap="square" rtlCol="0" anchor="ctr"/>
          <a:lstStyle/>
          <a:p>
            <a:pPr marL="0" indent="0">
              <a:lnSpc>
                <a:spcPct val="110000"/>
              </a:lnSpc>
              <a:buNone/>
            </a:pPr>
            <a:r>
              <a:rPr lang="en-US" sz="1250" b="1" dirty="0">
                <a:solidFill>
                  <a:srgbClr val="21295C"/>
                </a:solidFill>
                <a:latin typeface="Calibri" pitchFamily="34" charset="0"/>
                <a:ea typeface="Calibri" pitchFamily="34" charset="-122"/>
                <a:cs typeface="Calibri" pitchFamily="34" charset="-120"/>
              </a:rPr>
              <a:t>Uttarakhand is the value leader</a:t>
            </a:r>
            <a:endParaRPr lang="en-US" sz="1250" dirty="0"/>
          </a:p>
        </p:txBody>
      </p:sp>
      <p:sp>
        <p:nvSpPr>
          <p:cNvPr id="13" name="Text 9"/>
          <p:cNvSpPr txBox="1"/>
          <p:nvPr/>
        </p:nvSpPr>
        <p:spPr>
          <a:xfrm>
            <a:off x="4572000" y="2743200"/>
            <a:ext cx="3108960" cy="777240"/>
          </a:xfrm>
          <a:prstGeom prst="rect">
            <a:avLst/>
          </a:prstGeom>
          <a:noFill/>
          <a:ln/>
        </p:spPr>
        <p:txBody>
          <a:bodyPr wrap="square" rtlCol="0" anchor="ctr"/>
          <a:lstStyle/>
          <a:p>
            <a:pPr marL="0" indent="0">
              <a:lnSpc>
                <a:spcPct val="115000"/>
              </a:lnSpc>
              <a:buNone/>
            </a:pPr>
            <a:r>
              <a:rPr lang="en-US" sz="1050" dirty="0">
                <a:solidFill>
                  <a:srgbClr val="1B2733"/>
                </a:solidFill>
                <a:latin typeface="Calibri" pitchFamily="34" charset="0"/>
                <a:ea typeface="Calibri" pitchFamily="34" charset="-122"/>
                <a:cs typeface="Calibri" pitchFamily="34" charset="-120"/>
              </a:rPr>
              <a:t>Lowest average price (₹10,104) with short getaways — ideal for budget and weekend-trip marketing campaigns.</a:t>
            </a:r>
            <a:endParaRPr lang="en-US" sz="1050" dirty="0"/>
          </a:p>
        </p:txBody>
      </p:sp>
      <p:sp>
        <p:nvSpPr>
          <p:cNvPr id="14" name="Shape 10"/>
          <p:cNvSpPr/>
          <p:nvPr/>
        </p:nvSpPr>
        <p:spPr>
          <a:xfrm>
            <a:off x="8138160" y="1280160"/>
            <a:ext cx="3566160" cy="2331720"/>
          </a:xfrm>
          <a:prstGeom prst="roundRect">
            <a:avLst>
              <a:gd name="adj" fmla="val 3922"/>
            </a:avLst>
          </a:prstGeom>
          <a:solidFill>
            <a:srgbClr val="F4F7F9"/>
          </a:solidFill>
          <a:ln/>
        </p:spPr>
      </p:sp>
      <p:sp>
        <p:nvSpPr>
          <p:cNvPr id="15" name="Shape 11"/>
          <p:cNvSpPr/>
          <p:nvPr/>
        </p:nvSpPr>
        <p:spPr>
          <a:xfrm>
            <a:off x="8366760" y="1508760"/>
            <a:ext cx="502920" cy="502920"/>
          </a:xfrm>
          <a:prstGeom prst="ellipse">
            <a:avLst/>
          </a:prstGeom>
          <a:solidFill>
            <a:srgbClr val="065A82"/>
          </a:solidFill>
          <a:ln/>
        </p:spPr>
      </p:sp>
      <p:pic>
        <p:nvPicPr>
          <p:cNvPr id="16" name="Image 2" descr="/home/claude/icons/map.png"/>
          <p:cNvPicPr>
            <a:picLocks noChangeAspect="1"/>
          </p:cNvPicPr>
          <p:nvPr/>
        </p:nvPicPr>
        <p:blipFill>
          <a:blip r:embed="rId5"/>
          <a:stretch>
            <a:fillRect/>
          </a:stretch>
        </p:blipFill>
        <p:spPr>
          <a:xfrm>
            <a:off x="8497519" y="1639519"/>
            <a:ext cx="241402" cy="241402"/>
          </a:xfrm>
          <a:prstGeom prst="rect">
            <a:avLst/>
          </a:prstGeom>
        </p:spPr>
      </p:pic>
      <p:sp>
        <p:nvSpPr>
          <p:cNvPr id="17" name="Text 12"/>
          <p:cNvSpPr txBox="1"/>
          <p:nvPr/>
        </p:nvSpPr>
        <p:spPr>
          <a:xfrm>
            <a:off x="8366760" y="2148840"/>
            <a:ext cx="3108960" cy="594360"/>
          </a:xfrm>
          <a:prstGeom prst="rect">
            <a:avLst/>
          </a:prstGeom>
          <a:noFill/>
          <a:ln/>
        </p:spPr>
        <p:txBody>
          <a:bodyPr wrap="square" rtlCol="0" anchor="ctr"/>
          <a:lstStyle/>
          <a:p>
            <a:pPr marL="0" indent="0">
              <a:lnSpc>
                <a:spcPct val="110000"/>
              </a:lnSpc>
              <a:buNone/>
            </a:pPr>
            <a:r>
              <a:rPr lang="en-US" sz="1250" b="1" dirty="0">
                <a:solidFill>
                  <a:srgbClr val="21295C"/>
                </a:solidFill>
                <a:latin typeface="Calibri" pitchFamily="34" charset="0"/>
                <a:ea typeface="Calibri" pitchFamily="34" charset="-122"/>
                <a:cs typeface="Calibri" pitchFamily="34" charset="-120"/>
              </a:rPr>
              <a:t>India-tagged packages lead in volume</a:t>
            </a:r>
            <a:endParaRPr lang="en-US" sz="1250" dirty="0"/>
          </a:p>
        </p:txBody>
      </p:sp>
      <p:sp>
        <p:nvSpPr>
          <p:cNvPr id="18" name="Text 13"/>
          <p:cNvSpPr txBox="1"/>
          <p:nvPr/>
        </p:nvSpPr>
        <p:spPr>
          <a:xfrm>
            <a:off x="8366760" y="2743200"/>
            <a:ext cx="3108960" cy="777240"/>
          </a:xfrm>
          <a:prstGeom prst="rect">
            <a:avLst/>
          </a:prstGeom>
          <a:noFill/>
          <a:ln/>
        </p:spPr>
        <p:txBody>
          <a:bodyPr wrap="square" rtlCol="0" anchor="ctr"/>
          <a:lstStyle/>
          <a:p>
            <a:pPr marL="0" indent="0">
              <a:lnSpc>
                <a:spcPct val="115000"/>
              </a:lnSpc>
              <a:buNone/>
            </a:pPr>
            <a:r>
              <a:rPr lang="en-US" sz="1050" dirty="0">
                <a:solidFill>
                  <a:srgbClr val="1B2733"/>
                </a:solidFill>
                <a:latin typeface="Calibri" pitchFamily="34" charset="0"/>
                <a:ea typeface="Calibri" pitchFamily="34" charset="-122"/>
                <a:cs typeface="Calibri" pitchFamily="34" charset="-120"/>
              </a:rPr>
              <a:t>Highest package count in the raw listings — signals strong demand for flexible, multi-region itineraries.</a:t>
            </a:r>
            <a:endParaRPr lang="en-US" sz="1050" dirty="0"/>
          </a:p>
        </p:txBody>
      </p:sp>
      <p:sp>
        <p:nvSpPr>
          <p:cNvPr id="19" name="Shape 14"/>
          <p:cNvSpPr/>
          <p:nvPr/>
        </p:nvSpPr>
        <p:spPr>
          <a:xfrm>
            <a:off x="548640" y="3840480"/>
            <a:ext cx="3566160" cy="2331720"/>
          </a:xfrm>
          <a:prstGeom prst="roundRect">
            <a:avLst>
              <a:gd name="adj" fmla="val 3922"/>
            </a:avLst>
          </a:prstGeom>
          <a:solidFill>
            <a:srgbClr val="F4F7F9"/>
          </a:solidFill>
          <a:ln/>
        </p:spPr>
      </p:sp>
      <p:sp>
        <p:nvSpPr>
          <p:cNvPr id="20" name="Shape 15"/>
          <p:cNvSpPr/>
          <p:nvPr/>
        </p:nvSpPr>
        <p:spPr>
          <a:xfrm>
            <a:off x="777240" y="4069080"/>
            <a:ext cx="502920" cy="502920"/>
          </a:xfrm>
          <a:prstGeom prst="ellipse">
            <a:avLst/>
          </a:prstGeom>
          <a:solidFill>
            <a:srgbClr val="065A82"/>
          </a:solidFill>
          <a:ln/>
        </p:spPr>
      </p:sp>
      <p:pic>
        <p:nvPicPr>
          <p:cNvPr id="21" name="Image 3" descr="/home/claude/icons/route.png"/>
          <p:cNvPicPr>
            <a:picLocks noChangeAspect="1"/>
          </p:cNvPicPr>
          <p:nvPr/>
        </p:nvPicPr>
        <p:blipFill>
          <a:blip r:embed="rId6"/>
          <a:stretch>
            <a:fillRect/>
          </a:stretch>
        </p:blipFill>
        <p:spPr>
          <a:xfrm>
            <a:off x="907999" y="4199839"/>
            <a:ext cx="241402" cy="241402"/>
          </a:xfrm>
          <a:prstGeom prst="rect">
            <a:avLst/>
          </a:prstGeom>
        </p:spPr>
      </p:pic>
      <p:sp>
        <p:nvSpPr>
          <p:cNvPr id="22" name="Text 16"/>
          <p:cNvSpPr txBox="1"/>
          <p:nvPr/>
        </p:nvSpPr>
        <p:spPr>
          <a:xfrm>
            <a:off x="777240" y="4709160"/>
            <a:ext cx="3108960" cy="594360"/>
          </a:xfrm>
          <a:prstGeom prst="rect">
            <a:avLst/>
          </a:prstGeom>
          <a:noFill/>
          <a:ln/>
        </p:spPr>
        <p:txBody>
          <a:bodyPr wrap="square" rtlCol="0" anchor="ctr"/>
          <a:lstStyle/>
          <a:p>
            <a:pPr marL="0" indent="0">
              <a:lnSpc>
                <a:spcPct val="110000"/>
              </a:lnSpc>
              <a:buNone/>
            </a:pPr>
            <a:r>
              <a:rPr lang="en-US" sz="1250" b="1" dirty="0">
                <a:solidFill>
                  <a:srgbClr val="21295C"/>
                </a:solidFill>
                <a:latin typeface="Calibri" pitchFamily="34" charset="0"/>
                <a:ea typeface="Calibri" pitchFamily="34" charset="-122"/>
                <a:cs typeface="Calibri" pitchFamily="34" charset="-120"/>
              </a:rPr>
              <a:t>Duration strongly drives price (r = 0.88)</a:t>
            </a:r>
            <a:endParaRPr lang="en-US" sz="1250" dirty="0"/>
          </a:p>
        </p:txBody>
      </p:sp>
      <p:sp>
        <p:nvSpPr>
          <p:cNvPr id="23" name="Text 17"/>
          <p:cNvSpPr txBox="1"/>
          <p:nvPr/>
        </p:nvSpPr>
        <p:spPr>
          <a:xfrm>
            <a:off x="777240" y="5303520"/>
            <a:ext cx="3108960" cy="777240"/>
          </a:xfrm>
          <a:prstGeom prst="rect">
            <a:avLst/>
          </a:prstGeom>
          <a:noFill/>
          <a:ln/>
        </p:spPr>
        <p:txBody>
          <a:bodyPr wrap="square" rtlCol="0" anchor="ctr"/>
          <a:lstStyle/>
          <a:p>
            <a:pPr marL="0" indent="0">
              <a:lnSpc>
                <a:spcPct val="115000"/>
              </a:lnSpc>
              <a:buNone/>
            </a:pPr>
            <a:r>
              <a:rPr lang="en-US" sz="1050" dirty="0">
                <a:solidFill>
                  <a:srgbClr val="1B2733"/>
                </a:solidFill>
                <a:latin typeface="Calibri" pitchFamily="34" charset="0"/>
                <a:ea typeface="Calibri" pitchFamily="34" charset="-122"/>
                <a:cs typeface="Calibri" pitchFamily="34" charset="-120"/>
              </a:rPr>
              <a:t>Use trip length as a fast way to benchmark or justify pricing when designing new packages.</a:t>
            </a:r>
            <a:endParaRPr lang="en-US" sz="1050" dirty="0"/>
          </a:p>
        </p:txBody>
      </p:sp>
      <p:sp>
        <p:nvSpPr>
          <p:cNvPr id="24" name="Shape 18"/>
          <p:cNvSpPr/>
          <p:nvPr/>
        </p:nvSpPr>
        <p:spPr>
          <a:xfrm>
            <a:off x="4343400" y="3840480"/>
            <a:ext cx="3566160" cy="2331720"/>
          </a:xfrm>
          <a:prstGeom prst="roundRect">
            <a:avLst>
              <a:gd name="adj" fmla="val 3922"/>
            </a:avLst>
          </a:prstGeom>
          <a:solidFill>
            <a:srgbClr val="F4F7F9"/>
          </a:solidFill>
          <a:ln/>
        </p:spPr>
      </p:sp>
      <p:sp>
        <p:nvSpPr>
          <p:cNvPr id="25" name="Shape 19"/>
          <p:cNvSpPr/>
          <p:nvPr/>
        </p:nvSpPr>
        <p:spPr>
          <a:xfrm>
            <a:off x="4572000" y="4069080"/>
            <a:ext cx="502920" cy="502920"/>
          </a:xfrm>
          <a:prstGeom prst="ellipse">
            <a:avLst/>
          </a:prstGeom>
          <a:solidFill>
            <a:srgbClr val="065A82"/>
          </a:solidFill>
          <a:ln/>
        </p:spPr>
      </p:sp>
      <p:pic>
        <p:nvPicPr>
          <p:cNvPr id="26" name="Image 4" descr="/home/claude/icons/check.png"/>
          <p:cNvPicPr>
            <a:picLocks noChangeAspect="1"/>
          </p:cNvPicPr>
          <p:nvPr/>
        </p:nvPicPr>
        <p:blipFill>
          <a:blip r:embed="rId7"/>
          <a:stretch>
            <a:fillRect/>
          </a:stretch>
        </p:blipFill>
        <p:spPr>
          <a:xfrm>
            <a:off x="4702759" y="4199839"/>
            <a:ext cx="241402" cy="241402"/>
          </a:xfrm>
          <a:prstGeom prst="rect">
            <a:avLst/>
          </a:prstGeom>
        </p:spPr>
      </p:pic>
      <p:sp>
        <p:nvSpPr>
          <p:cNvPr id="27" name="Text 20"/>
          <p:cNvSpPr txBox="1"/>
          <p:nvPr/>
        </p:nvSpPr>
        <p:spPr>
          <a:xfrm>
            <a:off x="4572000" y="4709160"/>
            <a:ext cx="3108960" cy="594360"/>
          </a:xfrm>
          <a:prstGeom prst="rect">
            <a:avLst/>
          </a:prstGeom>
          <a:noFill/>
          <a:ln/>
        </p:spPr>
        <p:txBody>
          <a:bodyPr wrap="square" rtlCol="0" anchor="ctr"/>
          <a:lstStyle/>
          <a:p>
            <a:pPr marL="0" indent="0">
              <a:lnSpc>
                <a:spcPct val="110000"/>
              </a:lnSpc>
              <a:buNone/>
            </a:pPr>
            <a:r>
              <a:rPr lang="en-US" sz="1250" b="1" dirty="0">
                <a:solidFill>
                  <a:srgbClr val="21295C"/>
                </a:solidFill>
                <a:latin typeface="Calibri" pitchFamily="34" charset="0"/>
                <a:ea typeface="Calibri" pitchFamily="34" charset="-122"/>
                <a:cs typeface="Calibri" pitchFamily="34" charset="-120"/>
              </a:rPr>
              <a:t>Meals &amp; sightseeing are near-universal</a:t>
            </a:r>
            <a:endParaRPr lang="en-US" sz="1250" dirty="0"/>
          </a:p>
        </p:txBody>
      </p:sp>
      <p:sp>
        <p:nvSpPr>
          <p:cNvPr id="28" name="Text 21"/>
          <p:cNvSpPr txBox="1"/>
          <p:nvPr/>
        </p:nvSpPr>
        <p:spPr>
          <a:xfrm>
            <a:off x="4572000" y="5303520"/>
            <a:ext cx="3108960" cy="777240"/>
          </a:xfrm>
          <a:prstGeom prst="rect">
            <a:avLst/>
          </a:prstGeom>
          <a:noFill/>
          <a:ln/>
        </p:spPr>
        <p:txBody>
          <a:bodyPr wrap="square" rtlCol="0" anchor="ctr"/>
          <a:lstStyle/>
          <a:p>
            <a:pPr marL="0" indent="0">
              <a:lnSpc>
                <a:spcPct val="115000"/>
              </a:lnSpc>
              <a:buNone/>
            </a:pPr>
            <a:r>
              <a:rPr lang="en-US" sz="1050" dirty="0">
                <a:solidFill>
                  <a:srgbClr val="1B2733"/>
                </a:solidFill>
                <a:latin typeface="Calibri" pitchFamily="34" charset="0"/>
                <a:ea typeface="Calibri" pitchFamily="34" charset="-122"/>
                <a:cs typeface="Calibri" pitchFamily="34" charset="-120"/>
              </a:rPr>
              <a:t>Present in ~98% of listings — differentiate instead on hotel star rating, transfers, and honeymoon extras.</a:t>
            </a:r>
            <a:endParaRPr lang="en-US" sz="1050" dirty="0"/>
          </a:p>
        </p:txBody>
      </p:sp>
      <p:sp>
        <p:nvSpPr>
          <p:cNvPr id="29" name="Shape 22"/>
          <p:cNvSpPr/>
          <p:nvPr/>
        </p:nvSpPr>
        <p:spPr>
          <a:xfrm>
            <a:off x="8138160" y="3840480"/>
            <a:ext cx="3566160" cy="2331720"/>
          </a:xfrm>
          <a:prstGeom prst="roundRect">
            <a:avLst>
              <a:gd name="adj" fmla="val 3922"/>
            </a:avLst>
          </a:prstGeom>
          <a:solidFill>
            <a:srgbClr val="F4F7F9"/>
          </a:solidFill>
          <a:ln/>
        </p:spPr>
      </p:sp>
      <p:sp>
        <p:nvSpPr>
          <p:cNvPr id="30" name="Shape 23"/>
          <p:cNvSpPr/>
          <p:nvPr/>
        </p:nvSpPr>
        <p:spPr>
          <a:xfrm>
            <a:off x="8366760" y="4069080"/>
            <a:ext cx="502920" cy="502920"/>
          </a:xfrm>
          <a:prstGeom prst="ellipse">
            <a:avLst/>
          </a:prstGeom>
          <a:solidFill>
            <a:srgbClr val="065A82"/>
          </a:solidFill>
          <a:ln/>
        </p:spPr>
      </p:sp>
      <p:pic>
        <p:nvPicPr>
          <p:cNvPr id="31" name="Image 5" descr="/home/claude/icons/bulb.png"/>
          <p:cNvPicPr>
            <a:picLocks noChangeAspect="1"/>
          </p:cNvPicPr>
          <p:nvPr/>
        </p:nvPicPr>
        <p:blipFill>
          <a:blip r:embed="rId8"/>
          <a:stretch>
            <a:fillRect/>
          </a:stretch>
        </p:blipFill>
        <p:spPr>
          <a:xfrm>
            <a:off x="8497519" y="4199839"/>
            <a:ext cx="241402" cy="241402"/>
          </a:xfrm>
          <a:prstGeom prst="rect">
            <a:avLst/>
          </a:prstGeom>
        </p:spPr>
      </p:pic>
      <p:sp>
        <p:nvSpPr>
          <p:cNvPr id="32" name="Text 24"/>
          <p:cNvSpPr txBox="1"/>
          <p:nvPr/>
        </p:nvSpPr>
        <p:spPr>
          <a:xfrm>
            <a:off x="8366760" y="4709160"/>
            <a:ext cx="3108960" cy="594360"/>
          </a:xfrm>
          <a:prstGeom prst="rect">
            <a:avLst/>
          </a:prstGeom>
          <a:noFill/>
          <a:ln/>
        </p:spPr>
        <p:txBody>
          <a:bodyPr wrap="square" rtlCol="0" anchor="ctr"/>
          <a:lstStyle/>
          <a:p>
            <a:pPr marL="0" indent="0">
              <a:lnSpc>
                <a:spcPct val="110000"/>
              </a:lnSpc>
              <a:buNone/>
            </a:pPr>
            <a:r>
              <a:rPr lang="en-US" sz="1250" b="1" dirty="0">
                <a:solidFill>
                  <a:srgbClr val="21295C"/>
                </a:solidFill>
                <a:latin typeface="Calibri" pitchFamily="34" charset="0"/>
                <a:ea typeface="Calibri" pitchFamily="34" charset="-122"/>
                <a:cs typeface="Calibri" pitchFamily="34" charset="-120"/>
              </a:rPr>
              <a:t>Recommendation: tiered destination strategy</a:t>
            </a:r>
            <a:endParaRPr lang="en-US" sz="1250" dirty="0"/>
          </a:p>
        </p:txBody>
      </p:sp>
      <p:sp>
        <p:nvSpPr>
          <p:cNvPr id="33" name="Text 25"/>
          <p:cNvSpPr txBox="1"/>
          <p:nvPr/>
        </p:nvSpPr>
        <p:spPr>
          <a:xfrm>
            <a:off x="8366760" y="5303520"/>
            <a:ext cx="3108960" cy="777240"/>
          </a:xfrm>
          <a:prstGeom prst="rect">
            <a:avLst/>
          </a:prstGeom>
          <a:noFill/>
          <a:ln/>
        </p:spPr>
        <p:txBody>
          <a:bodyPr wrap="square" rtlCol="0" anchor="ctr"/>
          <a:lstStyle/>
          <a:p>
            <a:pPr marL="0" indent="0">
              <a:lnSpc>
                <a:spcPct val="115000"/>
              </a:lnSpc>
              <a:buNone/>
            </a:pPr>
            <a:r>
              <a:rPr lang="en-US" sz="1050" dirty="0">
                <a:solidFill>
                  <a:srgbClr val="1B2733"/>
                </a:solidFill>
                <a:latin typeface="Calibri" pitchFamily="34" charset="0"/>
                <a:ea typeface="Calibri" pitchFamily="34" charset="-122"/>
                <a:cs typeface="Calibri" pitchFamily="34" charset="-120"/>
              </a:rPr>
              <a:t>Pair budget destinations (Uttarakhand, India) with premium ones (Sikkim, Andaman) in cross-sell bundles.</a:t>
            </a:r>
            <a:endParaRPr lang="en-US" sz="1050" dirty="0"/>
          </a:p>
        </p:txBody>
      </p:sp>
      <p:sp>
        <p:nvSpPr>
          <p:cNvPr id="34" name="Text 26"/>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TravelTriangle Web Scraping &amp; Analytics Project</a:t>
            </a:r>
            <a:endParaRPr lang="en-US" sz="900" dirty="0"/>
          </a:p>
        </p:txBody>
      </p:sp>
      <p:sp>
        <p:nvSpPr>
          <p:cNvPr id="35" name="Text 2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Tools &amp; Tech Stack</a:t>
            </a:r>
            <a:endParaRPr lang="en-US" sz="3200" dirty="0"/>
          </a:p>
        </p:txBody>
      </p:sp>
      <p:sp>
        <p:nvSpPr>
          <p:cNvPr id="3" name="Text 1"/>
          <p:cNvSpPr txBox="1"/>
          <p:nvPr/>
        </p:nvSpPr>
        <p:spPr>
          <a:xfrm>
            <a:off x="548640" y="987552"/>
            <a:ext cx="9144000" cy="365760"/>
          </a:xfrm>
          <a:prstGeom prst="rect">
            <a:avLst/>
          </a:prstGeom>
          <a:noFill/>
          <a:ln/>
        </p:spPr>
        <p:txBody>
          <a:bodyPr wrap="square" rtlCol="0" anchor="ctr"/>
          <a:lstStyle/>
          <a:p>
            <a:pPr marL="0" indent="0">
              <a:buNone/>
            </a:pPr>
            <a:r>
              <a:rPr lang="en-US" sz="1300" dirty="0">
                <a:solidFill>
                  <a:srgbClr val="5C6B78"/>
                </a:solidFill>
                <a:latin typeface="Calibri" pitchFamily="34" charset="0"/>
                <a:ea typeface="Calibri" pitchFamily="34" charset="-122"/>
                <a:cs typeface="Calibri" pitchFamily="34" charset="-120"/>
              </a:rPr>
              <a:t>What powered each stage of the pipeline</a:t>
            </a:r>
            <a:endParaRPr lang="en-US" sz="1300" dirty="0"/>
          </a:p>
        </p:txBody>
      </p:sp>
      <p:sp>
        <p:nvSpPr>
          <p:cNvPr id="4" name="Shape 2"/>
          <p:cNvSpPr/>
          <p:nvPr/>
        </p:nvSpPr>
        <p:spPr>
          <a:xfrm>
            <a:off x="548640" y="1600200"/>
            <a:ext cx="3520440" cy="2103120"/>
          </a:xfrm>
          <a:prstGeom prst="roundRect">
            <a:avLst>
              <a:gd name="adj" fmla="val 5217"/>
            </a:avLst>
          </a:prstGeom>
          <a:solidFill>
            <a:srgbClr val="FFFFFF"/>
          </a:solidFill>
          <a:ln/>
          <a:effectLst>
            <a:outerShdw blurRad="76200" dist="25400" dir="5400000" algn="bl" rotWithShape="0">
              <a:srgbClr val="1B2733">
                <a:alpha val="12000"/>
              </a:srgbClr>
            </a:outerShdw>
          </a:effectLst>
        </p:spPr>
      </p:sp>
      <p:sp>
        <p:nvSpPr>
          <p:cNvPr id="5" name="Shape 3"/>
          <p:cNvSpPr/>
          <p:nvPr/>
        </p:nvSpPr>
        <p:spPr>
          <a:xfrm>
            <a:off x="1897380" y="1874520"/>
            <a:ext cx="822960" cy="822960"/>
          </a:xfrm>
          <a:prstGeom prst="ellipse">
            <a:avLst/>
          </a:prstGeom>
          <a:solidFill>
            <a:srgbClr val="065A82"/>
          </a:solidFill>
          <a:ln/>
        </p:spPr>
      </p:sp>
      <p:pic>
        <p:nvPicPr>
          <p:cNvPr id="6" name="Image 0" descr="/home/claude/icons/python.png"/>
          <p:cNvPicPr>
            <a:picLocks noChangeAspect="1"/>
          </p:cNvPicPr>
          <p:nvPr/>
        </p:nvPicPr>
        <p:blipFill>
          <a:blip r:embed="rId3"/>
          <a:stretch>
            <a:fillRect/>
          </a:stretch>
        </p:blipFill>
        <p:spPr>
          <a:xfrm>
            <a:off x="2111350" y="2088490"/>
            <a:ext cx="395021" cy="395021"/>
          </a:xfrm>
          <a:prstGeom prst="rect">
            <a:avLst/>
          </a:prstGeom>
        </p:spPr>
      </p:pic>
      <p:sp>
        <p:nvSpPr>
          <p:cNvPr id="7" name="Text 4"/>
          <p:cNvSpPr txBox="1"/>
          <p:nvPr/>
        </p:nvSpPr>
        <p:spPr>
          <a:xfrm>
            <a:off x="731520" y="2834640"/>
            <a:ext cx="3154680" cy="365760"/>
          </a:xfrm>
          <a:prstGeom prst="rect">
            <a:avLst/>
          </a:prstGeom>
          <a:noFill/>
          <a:ln/>
        </p:spPr>
        <p:txBody>
          <a:bodyPr wrap="square" rtlCol="0" anchor="ctr"/>
          <a:lstStyle/>
          <a:p>
            <a:pPr marL="0" indent="0" algn="ctr">
              <a:buNone/>
            </a:pPr>
            <a:r>
              <a:rPr lang="en-US" sz="1400" b="1" dirty="0">
                <a:solidFill>
                  <a:srgbClr val="21295C"/>
                </a:solidFill>
                <a:latin typeface="Calibri" pitchFamily="34" charset="0"/>
                <a:ea typeface="Calibri" pitchFamily="34" charset="-122"/>
                <a:cs typeface="Calibri" pitchFamily="34" charset="-120"/>
              </a:rPr>
              <a:t>Python</a:t>
            </a:r>
            <a:endParaRPr lang="en-US" sz="1400" dirty="0"/>
          </a:p>
        </p:txBody>
      </p:sp>
      <p:sp>
        <p:nvSpPr>
          <p:cNvPr id="8" name="Text 5"/>
          <p:cNvSpPr txBox="1"/>
          <p:nvPr/>
        </p:nvSpPr>
        <p:spPr>
          <a:xfrm>
            <a:off x="731520" y="3200400"/>
            <a:ext cx="3154680" cy="411480"/>
          </a:xfrm>
          <a:prstGeom prst="rect">
            <a:avLst/>
          </a:prstGeom>
          <a:noFill/>
          <a:ln/>
        </p:spPr>
        <p:txBody>
          <a:bodyPr wrap="square" rtlCol="0" anchor="ctr"/>
          <a:lstStyle/>
          <a:p>
            <a:pPr marL="0" indent="0" algn="ctr">
              <a:buNone/>
            </a:pPr>
            <a:r>
              <a:rPr lang="en-US" sz="1100" dirty="0">
                <a:solidFill>
                  <a:srgbClr val="5C6B78"/>
                </a:solidFill>
                <a:latin typeface="Calibri" pitchFamily="34" charset="0"/>
                <a:ea typeface="Calibri" pitchFamily="34" charset="-122"/>
                <a:cs typeface="Calibri" pitchFamily="34" charset="-120"/>
              </a:rPr>
              <a:t>Core scripting language</a:t>
            </a:r>
            <a:endParaRPr lang="en-US" sz="1100" dirty="0"/>
          </a:p>
        </p:txBody>
      </p:sp>
      <p:sp>
        <p:nvSpPr>
          <p:cNvPr id="9" name="Shape 6"/>
          <p:cNvSpPr/>
          <p:nvPr/>
        </p:nvSpPr>
        <p:spPr>
          <a:xfrm>
            <a:off x="4325112" y="1600200"/>
            <a:ext cx="3520440" cy="2103120"/>
          </a:xfrm>
          <a:prstGeom prst="roundRect">
            <a:avLst>
              <a:gd name="adj" fmla="val 5217"/>
            </a:avLst>
          </a:prstGeom>
          <a:solidFill>
            <a:srgbClr val="FFFFFF"/>
          </a:solidFill>
          <a:ln/>
          <a:effectLst>
            <a:outerShdw blurRad="76200" dist="25400" dir="5400000" algn="bl" rotWithShape="0">
              <a:srgbClr val="1B2733">
                <a:alpha val="12000"/>
              </a:srgbClr>
            </a:outerShdw>
          </a:effectLst>
        </p:spPr>
      </p:sp>
      <p:sp>
        <p:nvSpPr>
          <p:cNvPr id="10" name="Shape 7"/>
          <p:cNvSpPr/>
          <p:nvPr/>
        </p:nvSpPr>
        <p:spPr>
          <a:xfrm>
            <a:off x="5673852" y="1874520"/>
            <a:ext cx="822960" cy="822960"/>
          </a:xfrm>
          <a:prstGeom prst="ellipse">
            <a:avLst/>
          </a:prstGeom>
          <a:solidFill>
            <a:srgbClr val="065A82"/>
          </a:solidFill>
          <a:ln/>
        </p:spPr>
      </p:sp>
      <p:pic>
        <p:nvPicPr>
          <p:cNvPr id="11" name="Image 1" descr="/home/claude/icons/spider.png"/>
          <p:cNvPicPr>
            <a:picLocks noChangeAspect="1"/>
          </p:cNvPicPr>
          <p:nvPr/>
        </p:nvPicPr>
        <p:blipFill>
          <a:blip r:embed="rId4"/>
          <a:stretch>
            <a:fillRect/>
          </a:stretch>
        </p:blipFill>
        <p:spPr>
          <a:xfrm>
            <a:off x="5887822" y="2088490"/>
            <a:ext cx="395021" cy="395021"/>
          </a:xfrm>
          <a:prstGeom prst="rect">
            <a:avLst/>
          </a:prstGeom>
        </p:spPr>
      </p:pic>
      <p:sp>
        <p:nvSpPr>
          <p:cNvPr id="12" name="Text 8"/>
          <p:cNvSpPr txBox="1"/>
          <p:nvPr/>
        </p:nvSpPr>
        <p:spPr>
          <a:xfrm>
            <a:off x="4507992" y="2834640"/>
            <a:ext cx="3154680" cy="365760"/>
          </a:xfrm>
          <a:prstGeom prst="rect">
            <a:avLst/>
          </a:prstGeom>
          <a:noFill/>
          <a:ln/>
        </p:spPr>
        <p:txBody>
          <a:bodyPr wrap="square" rtlCol="0" anchor="ctr"/>
          <a:lstStyle/>
          <a:p>
            <a:pPr marL="0" indent="0" algn="ctr">
              <a:buNone/>
            </a:pPr>
            <a:r>
              <a:rPr lang="en-US" sz="1400" b="1" dirty="0">
                <a:solidFill>
                  <a:srgbClr val="21295C"/>
                </a:solidFill>
                <a:latin typeface="Calibri" pitchFamily="34" charset="0"/>
                <a:ea typeface="Calibri" pitchFamily="34" charset="-122"/>
                <a:cs typeface="Calibri" pitchFamily="34" charset="-120"/>
              </a:rPr>
              <a:t>Requests + BeautifulSoup</a:t>
            </a:r>
            <a:endParaRPr lang="en-US" sz="1400" dirty="0"/>
          </a:p>
        </p:txBody>
      </p:sp>
      <p:sp>
        <p:nvSpPr>
          <p:cNvPr id="13" name="Text 9"/>
          <p:cNvSpPr txBox="1"/>
          <p:nvPr/>
        </p:nvSpPr>
        <p:spPr>
          <a:xfrm>
            <a:off x="4507992" y="3200400"/>
            <a:ext cx="3154680" cy="411480"/>
          </a:xfrm>
          <a:prstGeom prst="rect">
            <a:avLst/>
          </a:prstGeom>
          <a:noFill/>
          <a:ln/>
        </p:spPr>
        <p:txBody>
          <a:bodyPr wrap="square" rtlCol="0" anchor="ctr"/>
          <a:lstStyle/>
          <a:p>
            <a:pPr marL="0" indent="0" algn="ctr">
              <a:buNone/>
            </a:pPr>
            <a:r>
              <a:rPr lang="en-US" sz="1100" dirty="0">
                <a:solidFill>
                  <a:srgbClr val="5C6B78"/>
                </a:solidFill>
                <a:latin typeface="Calibri" pitchFamily="34" charset="0"/>
                <a:ea typeface="Calibri" pitchFamily="34" charset="-122"/>
                <a:cs typeface="Calibri" pitchFamily="34" charset="-120"/>
              </a:rPr>
              <a:t>HTML fetching &amp; parsing</a:t>
            </a:r>
            <a:endParaRPr lang="en-US" sz="1100" dirty="0"/>
          </a:p>
        </p:txBody>
      </p:sp>
      <p:sp>
        <p:nvSpPr>
          <p:cNvPr id="14" name="Shape 10"/>
          <p:cNvSpPr/>
          <p:nvPr/>
        </p:nvSpPr>
        <p:spPr>
          <a:xfrm>
            <a:off x="8101584" y="1600200"/>
            <a:ext cx="3520440" cy="2103120"/>
          </a:xfrm>
          <a:prstGeom prst="roundRect">
            <a:avLst>
              <a:gd name="adj" fmla="val 5217"/>
            </a:avLst>
          </a:prstGeom>
          <a:solidFill>
            <a:srgbClr val="FFFFFF"/>
          </a:solidFill>
          <a:ln/>
          <a:effectLst>
            <a:outerShdw blurRad="76200" dist="25400" dir="5400000" algn="bl" rotWithShape="0">
              <a:srgbClr val="1B2733">
                <a:alpha val="12000"/>
              </a:srgbClr>
            </a:outerShdw>
          </a:effectLst>
        </p:spPr>
      </p:sp>
      <p:sp>
        <p:nvSpPr>
          <p:cNvPr id="15" name="Shape 11"/>
          <p:cNvSpPr/>
          <p:nvPr/>
        </p:nvSpPr>
        <p:spPr>
          <a:xfrm>
            <a:off x="9450324" y="1874520"/>
            <a:ext cx="822960" cy="822960"/>
          </a:xfrm>
          <a:prstGeom prst="ellipse">
            <a:avLst/>
          </a:prstGeom>
          <a:solidFill>
            <a:srgbClr val="065A82"/>
          </a:solidFill>
          <a:ln/>
        </p:spPr>
      </p:sp>
      <p:pic>
        <p:nvPicPr>
          <p:cNvPr id="16" name="Image 2" descr="/home/claude/icons/pandas.png"/>
          <p:cNvPicPr>
            <a:picLocks noChangeAspect="1"/>
          </p:cNvPicPr>
          <p:nvPr/>
        </p:nvPicPr>
        <p:blipFill>
          <a:blip r:embed="rId5"/>
          <a:stretch>
            <a:fillRect/>
          </a:stretch>
        </p:blipFill>
        <p:spPr>
          <a:xfrm>
            <a:off x="9664294" y="2088490"/>
            <a:ext cx="395021" cy="395021"/>
          </a:xfrm>
          <a:prstGeom prst="rect">
            <a:avLst/>
          </a:prstGeom>
        </p:spPr>
      </p:pic>
      <p:sp>
        <p:nvSpPr>
          <p:cNvPr id="17" name="Text 12"/>
          <p:cNvSpPr txBox="1"/>
          <p:nvPr/>
        </p:nvSpPr>
        <p:spPr>
          <a:xfrm>
            <a:off x="8284464" y="2834640"/>
            <a:ext cx="3154680" cy="365760"/>
          </a:xfrm>
          <a:prstGeom prst="rect">
            <a:avLst/>
          </a:prstGeom>
          <a:noFill/>
          <a:ln/>
        </p:spPr>
        <p:txBody>
          <a:bodyPr wrap="square" rtlCol="0" anchor="ctr"/>
          <a:lstStyle/>
          <a:p>
            <a:pPr marL="0" indent="0" algn="ctr">
              <a:buNone/>
            </a:pPr>
            <a:r>
              <a:rPr lang="en-US" sz="1400" b="1" dirty="0">
                <a:solidFill>
                  <a:srgbClr val="21295C"/>
                </a:solidFill>
                <a:latin typeface="Calibri" pitchFamily="34" charset="0"/>
                <a:ea typeface="Calibri" pitchFamily="34" charset="-122"/>
                <a:cs typeface="Calibri" pitchFamily="34" charset="-120"/>
              </a:rPr>
              <a:t>Pandas</a:t>
            </a:r>
            <a:endParaRPr lang="en-US" sz="1400" dirty="0"/>
          </a:p>
        </p:txBody>
      </p:sp>
      <p:sp>
        <p:nvSpPr>
          <p:cNvPr id="18" name="Text 13"/>
          <p:cNvSpPr txBox="1"/>
          <p:nvPr/>
        </p:nvSpPr>
        <p:spPr>
          <a:xfrm>
            <a:off x="8284464" y="3200400"/>
            <a:ext cx="3154680" cy="411480"/>
          </a:xfrm>
          <a:prstGeom prst="rect">
            <a:avLst/>
          </a:prstGeom>
          <a:noFill/>
          <a:ln/>
        </p:spPr>
        <p:txBody>
          <a:bodyPr wrap="square" rtlCol="0" anchor="ctr"/>
          <a:lstStyle/>
          <a:p>
            <a:pPr marL="0" indent="0" algn="ctr">
              <a:buNone/>
            </a:pPr>
            <a:r>
              <a:rPr lang="en-US" sz="1100" dirty="0">
                <a:solidFill>
                  <a:srgbClr val="5C6B78"/>
                </a:solidFill>
                <a:latin typeface="Calibri" pitchFamily="34" charset="0"/>
                <a:ea typeface="Calibri" pitchFamily="34" charset="-122"/>
                <a:cs typeface="Calibri" pitchFamily="34" charset="-120"/>
              </a:rPr>
              <a:t>Cleaning, transformation, EDA</a:t>
            </a:r>
            <a:endParaRPr lang="en-US" sz="1100" dirty="0"/>
          </a:p>
        </p:txBody>
      </p:sp>
      <p:sp>
        <p:nvSpPr>
          <p:cNvPr id="19" name="Shape 14"/>
          <p:cNvSpPr/>
          <p:nvPr/>
        </p:nvSpPr>
        <p:spPr>
          <a:xfrm>
            <a:off x="548640" y="3959352"/>
            <a:ext cx="3520440" cy="2103120"/>
          </a:xfrm>
          <a:prstGeom prst="roundRect">
            <a:avLst>
              <a:gd name="adj" fmla="val 5217"/>
            </a:avLst>
          </a:prstGeom>
          <a:solidFill>
            <a:srgbClr val="FFFFFF"/>
          </a:solidFill>
          <a:ln/>
          <a:effectLst>
            <a:outerShdw blurRad="76200" dist="25400" dir="5400000" algn="bl" rotWithShape="0">
              <a:srgbClr val="1B2733">
                <a:alpha val="12000"/>
              </a:srgbClr>
            </a:outerShdw>
          </a:effectLst>
        </p:spPr>
      </p:sp>
      <p:sp>
        <p:nvSpPr>
          <p:cNvPr id="20" name="Shape 15"/>
          <p:cNvSpPr/>
          <p:nvPr/>
        </p:nvSpPr>
        <p:spPr>
          <a:xfrm>
            <a:off x="1897380" y="4233672"/>
            <a:ext cx="822960" cy="822960"/>
          </a:xfrm>
          <a:prstGeom prst="ellipse">
            <a:avLst/>
          </a:prstGeom>
          <a:solidFill>
            <a:srgbClr val="065A82"/>
          </a:solidFill>
          <a:ln/>
        </p:spPr>
      </p:sp>
      <p:pic>
        <p:nvPicPr>
          <p:cNvPr id="21" name="Image 3" descr="/home/claude/icons/chartline.png"/>
          <p:cNvPicPr>
            <a:picLocks noChangeAspect="1"/>
          </p:cNvPicPr>
          <p:nvPr/>
        </p:nvPicPr>
        <p:blipFill>
          <a:blip r:embed="rId6"/>
          <a:stretch>
            <a:fillRect/>
          </a:stretch>
        </p:blipFill>
        <p:spPr>
          <a:xfrm>
            <a:off x="2111350" y="4447642"/>
            <a:ext cx="395021" cy="395021"/>
          </a:xfrm>
          <a:prstGeom prst="rect">
            <a:avLst/>
          </a:prstGeom>
        </p:spPr>
      </p:pic>
      <p:sp>
        <p:nvSpPr>
          <p:cNvPr id="22" name="Text 16"/>
          <p:cNvSpPr txBox="1"/>
          <p:nvPr/>
        </p:nvSpPr>
        <p:spPr>
          <a:xfrm>
            <a:off x="731520" y="5193792"/>
            <a:ext cx="3154680" cy="365760"/>
          </a:xfrm>
          <a:prstGeom prst="rect">
            <a:avLst/>
          </a:prstGeom>
          <a:noFill/>
          <a:ln/>
        </p:spPr>
        <p:txBody>
          <a:bodyPr wrap="square" rtlCol="0" anchor="ctr"/>
          <a:lstStyle/>
          <a:p>
            <a:pPr marL="0" indent="0" algn="ctr">
              <a:buNone/>
            </a:pPr>
            <a:r>
              <a:rPr lang="en-US" sz="1400" b="1" dirty="0">
                <a:solidFill>
                  <a:srgbClr val="21295C"/>
                </a:solidFill>
                <a:latin typeface="Calibri" pitchFamily="34" charset="0"/>
                <a:ea typeface="Calibri" pitchFamily="34" charset="-122"/>
                <a:cs typeface="Calibri" pitchFamily="34" charset="-120"/>
              </a:rPr>
              <a:t>Matplotlib</a:t>
            </a:r>
            <a:endParaRPr lang="en-US" sz="1400" dirty="0"/>
          </a:p>
        </p:txBody>
      </p:sp>
      <p:sp>
        <p:nvSpPr>
          <p:cNvPr id="23" name="Text 17"/>
          <p:cNvSpPr txBox="1"/>
          <p:nvPr/>
        </p:nvSpPr>
        <p:spPr>
          <a:xfrm>
            <a:off x="731520" y="5559552"/>
            <a:ext cx="3154680" cy="411480"/>
          </a:xfrm>
          <a:prstGeom prst="rect">
            <a:avLst/>
          </a:prstGeom>
          <a:noFill/>
          <a:ln/>
        </p:spPr>
        <p:txBody>
          <a:bodyPr wrap="square" rtlCol="0" anchor="ctr"/>
          <a:lstStyle/>
          <a:p>
            <a:pPr marL="0" indent="0" algn="ctr">
              <a:buNone/>
            </a:pPr>
            <a:r>
              <a:rPr lang="en-US" sz="1100" dirty="0">
                <a:solidFill>
                  <a:srgbClr val="5C6B78"/>
                </a:solidFill>
                <a:latin typeface="Calibri" pitchFamily="34" charset="0"/>
                <a:ea typeface="Calibri" pitchFamily="34" charset="-122"/>
                <a:cs typeface="Calibri" pitchFamily="34" charset="-120"/>
              </a:rPr>
              <a:t>Exploratory charts</a:t>
            </a:r>
            <a:endParaRPr lang="en-US" sz="1100" dirty="0"/>
          </a:p>
        </p:txBody>
      </p:sp>
      <p:sp>
        <p:nvSpPr>
          <p:cNvPr id="24" name="Shape 18"/>
          <p:cNvSpPr/>
          <p:nvPr/>
        </p:nvSpPr>
        <p:spPr>
          <a:xfrm>
            <a:off x="4325112" y="3959352"/>
            <a:ext cx="3520440" cy="2103120"/>
          </a:xfrm>
          <a:prstGeom prst="roundRect">
            <a:avLst>
              <a:gd name="adj" fmla="val 5217"/>
            </a:avLst>
          </a:prstGeom>
          <a:solidFill>
            <a:srgbClr val="FFFFFF"/>
          </a:solidFill>
          <a:ln/>
          <a:effectLst>
            <a:outerShdw blurRad="76200" dist="25400" dir="5400000" algn="bl" rotWithShape="0">
              <a:srgbClr val="1B2733">
                <a:alpha val="12000"/>
              </a:srgbClr>
            </a:outerShdw>
          </a:effectLst>
        </p:spPr>
      </p:sp>
      <p:sp>
        <p:nvSpPr>
          <p:cNvPr id="25" name="Shape 19"/>
          <p:cNvSpPr/>
          <p:nvPr/>
        </p:nvSpPr>
        <p:spPr>
          <a:xfrm>
            <a:off x="5673852" y="4233672"/>
            <a:ext cx="822960" cy="822960"/>
          </a:xfrm>
          <a:prstGeom prst="ellipse">
            <a:avLst/>
          </a:prstGeom>
          <a:solidFill>
            <a:srgbClr val="065A82"/>
          </a:solidFill>
          <a:ln/>
        </p:spPr>
      </p:sp>
      <p:pic>
        <p:nvPicPr>
          <p:cNvPr id="26" name="Image 4" descr="/home/claude/icons/table.png"/>
          <p:cNvPicPr>
            <a:picLocks noChangeAspect="1"/>
          </p:cNvPicPr>
          <p:nvPr/>
        </p:nvPicPr>
        <p:blipFill>
          <a:blip r:embed="rId7"/>
          <a:stretch>
            <a:fillRect/>
          </a:stretch>
        </p:blipFill>
        <p:spPr>
          <a:xfrm>
            <a:off x="5887822" y="4447642"/>
            <a:ext cx="395021" cy="395021"/>
          </a:xfrm>
          <a:prstGeom prst="rect">
            <a:avLst/>
          </a:prstGeom>
        </p:spPr>
      </p:pic>
      <p:sp>
        <p:nvSpPr>
          <p:cNvPr id="27" name="Text 20"/>
          <p:cNvSpPr txBox="1"/>
          <p:nvPr/>
        </p:nvSpPr>
        <p:spPr>
          <a:xfrm>
            <a:off x="4507992" y="5193792"/>
            <a:ext cx="3154680" cy="365760"/>
          </a:xfrm>
          <a:prstGeom prst="rect">
            <a:avLst/>
          </a:prstGeom>
          <a:noFill/>
          <a:ln/>
        </p:spPr>
        <p:txBody>
          <a:bodyPr wrap="square" rtlCol="0" anchor="ctr"/>
          <a:lstStyle/>
          <a:p>
            <a:pPr marL="0" indent="0" algn="ctr">
              <a:buNone/>
            </a:pPr>
            <a:r>
              <a:rPr lang="en-US" sz="1400" b="1" dirty="0">
                <a:solidFill>
                  <a:srgbClr val="21295C"/>
                </a:solidFill>
                <a:latin typeface="Calibri" pitchFamily="34" charset="0"/>
                <a:ea typeface="Calibri" pitchFamily="34" charset="-122"/>
                <a:cs typeface="Calibri" pitchFamily="34" charset="-120"/>
              </a:rPr>
              <a:t>Excel / CSV</a:t>
            </a:r>
            <a:endParaRPr lang="en-US" sz="1400" dirty="0"/>
          </a:p>
        </p:txBody>
      </p:sp>
      <p:sp>
        <p:nvSpPr>
          <p:cNvPr id="28" name="Text 21"/>
          <p:cNvSpPr txBox="1"/>
          <p:nvPr/>
        </p:nvSpPr>
        <p:spPr>
          <a:xfrm>
            <a:off x="4507992" y="5559552"/>
            <a:ext cx="3154680" cy="411480"/>
          </a:xfrm>
          <a:prstGeom prst="rect">
            <a:avLst/>
          </a:prstGeom>
          <a:noFill/>
          <a:ln/>
        </p:spPr>
        <p:txBody>
          <a:bodyPr wrap="square" rtlCol="0" anchor="ctr"/>
          <a:lstStyle/>
          <a:p>
            <a:pPr marL="0" indent="0" algn="ctr">
              <a:buNone/>
            </a:pPr>
            <a:r>
              <a:rPr lang="en-US" sz="1100" dirty="0">
                <a:solidFill>
                  <a:srgbClr val="5C6B78"/>
                </a:solidFill>
                <a:latin typeface="Calibri" pitchFamily="34" charset="0"/>
                <a:ea typeface="Calibri" pitchFamily="34" charset="-122"/>
                <a:cs typeface="Calibri" pitchFamily="34" charset="-120"/>
              </a:rPr>
              <a:t>Structured dataset export</a:t>
            </a:r>
            <a:endParaRPr lang="en-US" sz="1100" dirty="0"/>
          </a:p>
        </p:txBody>
      </p:sp>
      <p:sp>
        <p:nvSpPr>
          <p:cNvPr id="29" name="Shape 22"/>
          <p:cNvSpPr/>
          <p:nvPr/>
        </p:nvSpPr>
        <p:spPr>
          <a:xfrm>
            <a:off x="8101584" y="3959352"/>
            <a:ext cx="3520440" cy="2103120"/>
          </a:xfrm>
          <a:prstGeom prst="roundRect">
            <a:avLst>
              <a:gd name="adj" fmla="val 5217"/>
            </a:avLst>
          </a:prstGeom>
          <a:solidFill>
            <a:srgbClr val="FFFFFF"/>
          </a:solidFill>
          <a:ln/>
          <a:effectLst>
            <a:outerShdw blurRad="76200" dist="25400" dir="5400000" algn="bl" rotWithShape="0">
              <a:srgbClr val="1B2733">
                <a:alpha val="12000"/>
              </a:srgbClr>
            </a:outerShdw>
          </a:effectLst>
        </p:spPr>
      </p:sp>
      <p:sp>
        <p:nvSpPr>
          <p:cNvPr id="30" name="Shape 23"/>
          <p:cNvSpPr/>
          <p:nvPr/>
        </p:nvSpPr>
        <p:spPr>
          <a:xfrm>
            <a:off x="9450324" y="4233672"/>
            <a:ext cx="822960" cy="822960"/>
          </a:xfrm>
          <a:prstGeom prst="ellipse">
            <a:avLst/>
          </a:prstGeom>
          <a:solidFill>
            <a:srgbClr val="065A82"/>
          </a:solidFill>
          <a:ln/>
        </p:spPr>
      </p:sp>
      <p:pic>
        <p:nvPicPr>
          <p:cNvPr id="31" name="Image 5" descr="/home/claude/icons/powerbi.png"/>
          <p:cNvPicPr>
            <a:picLocks noChangeAspect="1"/>
          </p:cNvPicPr>
          <p:nvPr/>
        </p:nvPicPr>
        <p:blipFill>
          <a:blip r:embed="rId8"/>
          <a:stretch>
            <a:fillRect/>
          </a:stretch>
        </p:blipFill>
        <p:spPr>
          <a:xfrm>
            <a:off x="9664294" y="4447642"/>
            <a:ext cx="395021" cy="395021"/>
          </a:xfrm>
          <a:prstGeom prst="rect">
            <a:avLst/>
          </a:prstGeom>
        </p:spPr>
      </p:pic>
      <p:sp>
        <p:nvSpPr>
          <p:cNvPr id="32" name="Text 24"/>
          <p:cNvSpPr txBox="1"/>
          <p:nvPr/>
        </p:nvSpPr>
        <p:spPr>
          <a:xfrm>
            <a:off x="8284464" y="5193792"/>
            <a:ext cx="3154680" cy="365760"/>
          </a:xfrm>
          <a:prstGeom prst="rect">
            <a:avLst/>
          </a:prstGeom>
          <a:noFill/>
          <a:ln/>
        </p:spPr>
        <p:txBody>
          <a:bodyPr wrap="square" rtlCol="0" anchor="ctr"/>
          <a:lstStyle/>
          <a:p>
            <a:pPr marL="0" indent="0" algn="ctr">
              <a:buNone/>
            </a:pPr>
            <a:r>
              <a:rPr lang="en-US" sz="1400" b="1" dirty="0">
                <a:solidFill>
                  <a:srgbClr val="21295C"/>
                </a:solidFill>
                <a:latin typeface="Calibri" pitchFamily="34" charset="0"/>
                <a:ea typeface="Calibri" pitchFamily="34" charset="-122"/>
                <a:cs typeface="Calibri" pitchFamily="34" charset="-120"/>
              </a:rPr>
              <a:t>Power BI</a:t>
            </a:r>
            <a:endParaRPr lang="en-US" sz="1400" dirty="0"/>
          </a:p>
        </p:txBody>
      </p:sp>
      <p:sp>
        <p:nvSpPr>
          <p:cNvPr id="33" name="Text 25"/>
          <p:cNvSpPr txBox="1"/>
          <p:nvPr/>
        </p:nvSpPr>
        <p:spPr>
          <a:xfrm>
            <a:off x="8284464" y="5559552"/>
            <a:ext cx="3154680" cy="411480"/>
          </a:xfrm>
          <a:prstGeom prst="rect">
            <a:avLst/>
          </a:prstGeom>
          <a:noFill/>
          <a:ln/>
        </p:spPr>
        <p:txBody>
          <a:bodyPr wrap="square" rtlCol="0" anchor="ctr"/>
          <a:lstStyle/>
          <a:p>
            <a:pPr marL="0" indent="0" algn="ctr">
              <a:buNone/>
            </a:pPr>
            <a:r>
              <a:rPr lang="en-US" sz="1100" dirty="0">
                <a:solidFill>
                  <a:srgbClr val="5C6B78"/>
                </a:solidFill>
                <a:latin typeface="Calibri" pitchFamily="34" charset="0"/>
                <a:ea typeface="Calibri" pitchFamily="34" charset="-122"/>
                <a:cs typeface="Calibri" pitchFamily="34" charset="-120"/>
              </a:rPr>
              <a:t>Interactive dashboard</a:t>
            </a:r>
            <a:endParaRPr lang="en-US" sz="1100" dirty="0"/>
          </a:p>
        </p:txBody>
      </p:sp>
      <p:sp>
        <p:nvSpPr>
          <p:cNvPr id="34" name="Text 26"/>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TravelTriangle Web Scraping &amp; Analytics Project</a:t>
            </a:r>
            <a:endParaRPr lang="en-US" sz="900" dirty="0"/>
          </a:p>
        </p:txBody>
      </p:sp>
      <p:sp>
        <p:nvSpPr>
          <p:cNvPr id="35" name="Text 2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065A82">
              <a:alpha val="45000"/>
            </a:srgbClr>
          </a:solidFill>
          <a:ln/>
        </p:spPr>
      </p:sp>
      <p:sp>
        <p:nvSpPr>
          <p:cNvPr id="3" name="Shape 1"/>
          <p:cNvSpPr/>
          <p:nvPr/>
        </p:nvSpPr>
        <p:spPr>
          <a:xfrm>
            <a:off x="9875520" y="-1645920"/>
            <a:ext cx="3657600" cy="3657600"/>
          </a:xfrm>
          <a:prstGeom prst="ellipse">
            <a:avLst/>
          </a:prstGeom>
          <a:solidFill>
            <a:srgbClr val="1C7293">
              <a:alpha val="55000"/>
            </a:srgbClr>
          </a:solidFill>
          <a:ln/>
        </p:spPr>
      </p:sp>
      <p:sp>
        <p:nvSpPr>
          <p:cNvPr id="4" name="Text 2"/>
          <p:cNvSpPr txBox="1"/>
          <p:nvPr/>
        </p:nvSpPr>
        <p:spPr>
          <a:xfrm>
            <a:off x="822960" y="2468880"/>
            <a:ext cx="100584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txBox="1"/>
          <p:nvPr/>
        </p:nvSpPr>
        <p:spPr>
          <a:xfrm>
            <a:off x="822960" y="3429000"/>
            <a:ext cx="8686800" cy="54864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From a single scraped webpage to a data-driven view of India's travel-package market.</a:t>
            </a:r>
            <a:endParaRPr lang="en-US" sz="1500" dirty="0"/>
          </a:p>
        </p:txBody>
      </p:sp>
      <p:sp>
        <p:nvSpPr>
          <p:cNvPr id="6" name="Shape 4"/>
          <p:cNvSpPr/>
          <p:nvPr/>
        </p:nvSpPr>
        <p:spPr>
          <a:xfrm>
            <a:off x="822960" y="4114800"/>
            <a:ext cx="2011680" cy="0"/>
          </a:xfrm>
          <a:prstGeom prst="line">
            <a:avLst/>
          </a:prstGeom>
          <a:noFill/>
          <a:ln w="31750">
            <a:solidFill>
              <a:srgbClr val="F2B134"/>
            </a:solidFill>
            <a:prstDash val="solid"/>
          </a:ln>
        </p:spPr>
      </p:sp>
      <p:sp>
        <p:nvSpPr>
          <p:cNvPr id="7" name="Text 5"/>
          <p:cNvSpPr txBox="1"/>
          <p:nvPr/>
        </p:nvSpPr>
        <p:spPr>
          <a:xfrm>
            <a:off x="822960" y="4297680"/>
            <a:ext cx="9601200" cy="640080"/>
          </a:xfrm>
          <a:prstGeom prst="rect">
            <a:avLst/>
          </a:prstGeom>
          <a:noFill/>
          <a:ln/>
        </p:spPr>
        <p:txBody>
          <a:bodyPr wrap="square" rtlCol="0" anchor="ctr"/>
          <a:lstStyle/>
          <a:p>
            <a:pPr marL="0" indent="0">
              <a:buNone/>
            </a:pPr>
            <a:r>
              <a:rPr lang="en-US" sz="1200" dirty="0">
                <a:solidFill>
                  <a:srgbClr val="9FB3C8"/>
                </a:solidFill>
                <a:latin typeface="Calibri" pitchFamily="34" charset="0"/>
                <a:ea typeface="Calibri" pitchFamily="34" charset="-122"/>
                <a:cs typeface="Calibri" pitchFamily="34" charset="-120"/>
              </a:rPr>
              <a:t>Deliverables: Scraping script  ·  Cleaned dataset  ·  Data dictionary  ·  EDA notebook  ·  Power BI dashboard  ·  This presentation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1277</Words>
  <Application>Microsoft Office PowerPoint</Application>
  <PresentationFormat>Custom</PresentationFormat>
  <Paragraphs>225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Bidyashree Panda</cp:lastModifiedBy>
  <cp:revision>2</cp:revision>
  <dcterms:created xsi:type="dcterms:W3CDTF">2026-09-09T06:31:25Z</dcterms:created>
  <dcterms:modified xsi:type="dcterms:W3CDTF">2026-09-09T06:35:56Z</dcterms:modified>
</cp:coreProperties>
</file>