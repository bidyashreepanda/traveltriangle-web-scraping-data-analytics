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60" r:id="rId5"/>
    <p:sldId id="261" r:id="rId6"/>
    <p:sldId id="265" r:id="rId7"/>
    <p:sldId id="266" r:id="rId8"/>
    <p:sldId id="264" r:id="rId9"/>
    <p:sldId id="267" r:id="rId10"/>
    <p:sldId id="268" r:id="rId11"/>
    <p:sldId id="270" r:id="rId12"/>
    <p:sldId id="271" r:id="rId13"/>
    <p:sldId id="273" r:id="rId14"/>
    <p:sldId id="274" r:id="rId15"/>
    <p:sldId id="276" r:id="rId16"/>
    <p:sldId id="277" r:id="rId17"/>
    <p:sldId id="275" r:id="rId18"/>
    <p:sldId id="269" r:id="rId19"/>
    <p:sldId id="272" r:id="rId20"/>
    <p:sldId id="279" r:id="rId21"/>
    <p:sldId id="280" r:id="rId22"/>
    <p:sldId id="259" r:id="rId23"/>
  </p:sldIdLst>
  <p:sldSz cx="12192000" cy="6858000"/>
  <p:notesSz cx="6858000" cy="9144000"/>
  <p:embeddedFontLst>
    <p:embeddedFont>
      <p:font typeface="Cambria" panose="02040503050406030204" pitchFamily="18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4" roundtripDataSignature="AMtx7mi4HmEECUlll0m8HTY06QsqsmZG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TextBox 98"/>
          <p:cNvSpPr txBox="1"/>
          <p:nvPr/>
        </p:nvSpPr>
        <p:spPr>
          <a:xfrm>
            <a:off x="914400" y="182880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2842A"/>
                </a:solidFill>
                <a:latin typeface="Aptos"/>
              </a:defRPr>
            </a:pPr>
            <a:r>
              <a:t>WEB SCRAPING &amp; DATA ANALYTICS PROJECT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4400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TravelTriangle Tour Package Insights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97280" y="3337560"/>
            <a:ext cx="9692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rPr dirty="0"/>
              <a:t>From raw HTML to business insights: scraping, cleaning, and analyzing India's holiday-package market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280160" y="4750638"/>
            <a:ext cx="9509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DCE6F0"/>
                </a:solidFill>
                <a:latin typeface="Aptos"/>
              </a:defRPr>
            </a:pPr>
            <a:r>
              <a:rPr b="1" dirty="0">
                <a:highlight>
                  <a:srgbClr val="000000"/>
                </a:highlight>
              </a:rPr>
              <a:t>End-to-End Data Analytics Project  •  Python  •  Pandas  •  Power BI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88720" y="5219268"/>
            <a:ext cx="950976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dirty="0">
                <a:solidFill>
                  <a:schemeClr val="bg2">
                    <a:lumMod val="75000"/>
                  </a:schemeClr>
                </a:solidFill>
              </a:rPr>
              <a:t>Presented By: Bidyashree Panda</a:t>
            </a: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F5E6D41-016E-5DE3-E0D3-66901232D094}"/>
              </a:ext>
            </a:extLst>
          </p:cNvPr>
          <p:cNvSpPr txBox="1"/>
          <p:nvPr/>
        </p:nvSpPr>
        <p:spPr>
          <a:xfrm>
            <a:off x="914400" y="3501174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           </a:t>
            </a:r>
            <a:r>
              <a:rPr lang="en-US" sz="2800" b="1" dirty="0" err="1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TravelTriangle</a:t>
            </a:r>
            <a:r>
              <a:rPr lang="en-US" sz="2800" b="1" dirty="0">
                <a:solidFill>
                  <a:schemeClr val="bg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Tour Package Insights</a:t>
            </a:r>
            <a:endParaRPr lang="en-US" sz="28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About 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4846320" cy="438912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8308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0375C"/>
                </a:solidFill>
                <a:latin typeface="Aptos Display"/>
              </a:defRPr>
            </a:pPr>
            <a:r>
              <a:t>Bidyashree Panda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1460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32D37"/>
                </a:solidFill>
                <a:latin typeface="Aptos"/>
              </a:defRPr>
            </a:pPr>
            <a:r>
              <a:t>B.Tech – CSE</a:t>
            </a:r>
            <a:br/>
            <a:r>
              <a:t>Data Analytics Project</a:t>
            </a:r>
            <a:br/>
            <a:r>
              <a:t>TravelTriangle Web Scraping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97880" y="1417320"/>
            <a:ext cx="53035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17920" y="17373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PROJECT FOCUS</a:t>
            </a:r>
          </a:p>
        </p:txBody>
      </p:sp>
      <p:sp>
        <p:nvSpPr>
          <p:cNvPr id="8" name="Oval 7"/>
          <p:cNvSpPr/>
          <p:nvPr/>
        </p:nvSpPr>
        <p:spPr>
          <a:xfrm>
            <a:off x="6217920" y="242316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19088" y="2331720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Web scraping and data collection</a:t>
            </a:r>
          </a:p>
        </p:txBody>
      </p:sp>
      <p:sp>
        <p:nvSpPr>
          <p:cNvPr id="10" name="Oval 9"/>
          <p:cNvSpPr/>
          <p:nvPr/>
        </p:nvSpPr>
        <p:spPr>
          <a:xfrm>
            <a:off x="6217920" y="3081527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19088" y="2990087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Data cleaning and structuring</a:t>
            </a:r>
          </a:p>
        </p:txBody>
      </p:sp>
      <p:sp>
        <p:nvSpPr>
          <p:cNvPr id="12" name="Oval 11"/>
          <p:cNvSpPr/>
          <p:nvPr/>
        </p:nvSpPr>
        <p:spPr>
          <a:xfrm>
            <a:off x="6217920" y="3739896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19088" y="3648456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Exploratory data analysis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4398264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4306824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Power BI visualization and business insights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232D37"/>
                </a:solidFill>
                <a:latin typeface="Aptos"/>
              </a:defRPr>
            </a:pPr>
            <a:r>
              <a:t>Extract meaningful, real-world data through web scraping, transform it into a structured dataset, and uncover actionable business insights about India's tour-package market.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42316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5568" y="2331720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Collect live tour-package listings directly from traveltriangle.com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3172968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3081527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Clean and structure the scraped data into an analysis-ready dataset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922775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3831335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Explore pricing, duration, and destination patterns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672583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4581144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32D37"/>
                </a:solidFill>
                <a:latin typeface="Aptos"/>
              </a:defRPr>
            </a:pPr>
            <a:r>
              <a:t>Translate findings into recommendations for a travel business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486400"/>
            <a:ext cx="10241280" cy="594360"/>
          </a:xfrm>
          <a:prstGeom prst="roundRect">
            <a:avLst/>
          </a:prstGeom>
          <a:solidFill>
            <a:srgbClr val="10375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5650992"/>
            <a:ext cx="9875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Goal: turn raw web content into decisions a travel business can act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Problem Statement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10607040" cy="438912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37360"/>
            <a:ext cx="9966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0375C"/>
                </a:solidFill>
                <a:latin typeface="Aptos"/>
              </a:defRPr>
            </a:pPr>
            <a:r>
              <a:t>Travel-package information is available online, but it is difficult to compare destinations, prices, durations, and inclusions directly from raw web pages.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283464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98448" y="2743200"/>
            <a:ext cx="9400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Raw HTML is not analysis-ready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3456432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98448" y="3364992"/>
            <a:ext cx="9400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Package details appear in semi-structured formats</a:t>
            </a:r>
          </a:p>
        </p:txBody>
      </p:sp>
      <p:sp>
        <p:nvSpPr>
          <p:cNvPr id="9" name="Oval 8"/>
          <p:cNvSpPr/>
          <p:nvPr/>
        </p:nvSpPr>
        <p:spPr>
          <a:xfrm>
            <a:off x="1097280" y="4078224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98448" y="3986784"/>
            <a:ext cx="9400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Prices and durations need cleaning before analysis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4700016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98448" y="4608576"/>
            <a:ext cx="94000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Business insights require consistent, structured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250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  <a:latin typeface="Aptos"/>
              </a:defRPr>
            </a:pPr>
            <a:r>
              <a:t>Key features and technologies used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KEY FEATURES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8600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5568" y="2194560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Scrape six Indian destinations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907792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15568" y="2816352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Capture package-level information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529584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3438144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Clean price and duration fields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151375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15568" y="4059935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Analyze pricing and trip-length patterns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773168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15568" y="4681728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Build an interactive Power BI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417320"/>
            <a:ext cx="5257800" cy="452628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691640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TECHNOLOGIES USED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228600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47688" y="2194560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20" name="Oval 19"/>
          <p:cNvSpPr/>
          <p:nvPr/>
        </p:nvSpPr>
        <p:spPr>
          <a:xfrm>
            <a:off x="6446520" y="2852928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7688" y="2761488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Requests + BeautifulSoup</a:t>
            </a:r>
          </a:p>
        </p:txBody>
      </p:sp>
      <p:sp>
        <p:nvSpPr>
          <p:cNvPr id="22" name="Oval 21"/>
          <p:cNvSpPr/>
          <p:nvPr/>
        </p:nvSpPr>
        <p:spPr>
          <a:xfrm>
            <a:off x="6446520" y="3419856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647688" y="3328415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24" name="Oval 23"/>
          <p:cNvSpPr/>
          <p:nvPr/>
        </p:nvSpPr>
        <p:spPr>
          <a:xfrm>
            <a:off x="6446520" y="3986783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47688" y="3895344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26" name="Oval 25"/>
          <p:cNvSpPr/>
          <p:nvPr/>
        </p:nvSpPr>
        <p:spPr>
          <a:xfrm>
            <a:off x="6446520" y="4553712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47688" y="4462272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Excel / CSV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512064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47688" y="5029200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20054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Data Collection — Web Scraping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3035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SOURCE &amp;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Source</a:t>
            </a:r>
            <a:br/>
            <a:r>
              <a:t>traveltriangle.com — tour-package listing pages for 6 Indian destinations</a:t>
            </a:r>
            <a:br/>
            <a:br/>
            <a:r>
              <a:t>Method</a:t>
            </a:r>
            <a:br/>
            <a:r>
              <a:t>requests + browser User-Agent; BeautifulSoup (html.parser)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120640" cy="452628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6642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FIELDS CAPTURED PER PACKAGE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94560"/>
            <a:ext cx="44805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0375C"/>
                </a:solidFill>
                <a:latin typeface="Aptos"/>
              </a:defRPr>
            </a:pPr>
            <a:r>
              <a:t>Destination</a:t>
            </a:r>
            <a:br/>
            <a:r>
              <a:t>Package Name</a:t>
            </a:r>
            <a:br/>
            <a:r>
              <a:t>Duration</a:t>
            </a:r>
            <a:br/>
            <a:r>
              <a:t>Price</a:t>
            </a:r>
            <a:br/>
            <a:r>
              <a:t>Inclusions</a:t>
            </a:r>
            <a:br/>
            <a:r>
              <a:t>URL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88620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C5C8C"/>
                </a:solidFill>
                <a:latin typeface="Aptos"/>
              </a:defRPr>
            </a:pPr>
            <a:r>
              <a:t>6 destinations scraped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4434840"/>
            <a:ext cx="4480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India • Rajasthan • Himachal Pradesh • Andaman &amp; Nicobar • Sikkim • Uttarakhand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3151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Data Cleaning &amp; Structuring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25880"/>
            <a:ext cx="5212080" cy="128016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842A"/>
                </a:solidFill>
                <a:latin typeface="Aptos"/>
              </a:defRPr>
            </a:pPr>
            <a:r>
              <a:t>Price parsing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92807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Regex stripped currency symbols/text to create Price_Numeric.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32588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50876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842A"/>
                </a:solidFill>
                <a:latin typeface="Aptos"/>
              </a:defRPr>
            </a:pPr>
            <a:r>
              <a:t>Duration parsing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892807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Regex extracted Nights and Days from strings such as “4 Nights/5 Days”.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926080"/>
            <a:ext cx="5212080" cy="128016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842A"/>
                </a:solidFill>
                <a:latin typeface="Aptos"/>
              </a:defRPr>
            </a:pPr>
            <a:r>
              <a:t>Header-row removal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93008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Scraper-captured table headers were identified and dropped.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292608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310896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842A"/>
                </a:solidFill>
                <a:latin typeface="Aptos"/>
              </a:defRPr>
            </a:pPr>
            <a:r>
              <a:t>Duplicate removal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493008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Records were de-duplicated on Destination + Package_Name.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526280"/>
            <a:ext cx="5212080" cy="128016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" y="470916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842A"/>
                </a:solidFill>
                <a:latin typeface="Aptos"/>
              </a:defRPr>
            </a:pPr>
            <a:r>
              <a:t>Missing-value handling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93208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Empty URLs were filled and unrecoverable values were located and corrected.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526280"/>
            <a:ext cx="52120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4709160"/>
            <a:ext cx="4709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842A"/>
                </a:solidFill>
                <a:latin typeface="Aptos"/>
              </a:defRPr>
            </a:pPr>
            <a:r>
              <a:t>Final export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93208"/>
            <a:ext cx="47091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Cleaned data was consolidated to CSV / Excel for analysis and Power BI.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860073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Data Dictionary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  <a:latin typeface="Aptos"/>
              </a:defRPr>
            </a:pPr>
            <a:r>
              <a:t>Final structured dataset — 42 rows × 9 columns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325880"/>
          <a:ext cx="109728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037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037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Destination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Region the package belongs 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Package_Name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Marketing title of the tour package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Raw trip length, e.g. 4 Nights/5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Raw listed price with currency symbol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Inclusions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Comma-separated list of what's included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URL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Relative link to the package detail page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Price_Numeric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Decimal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Clean numeric price for analysis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Nights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Whole Number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Number of nights extracted from Duration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Whole 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D37"/>
                          </a:solidFill>
                        </a:defRPr>
                      </a:pPr>
                      <a:r>
                        <a:t>Number of days extracted from Duration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528471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Dataset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6E78"/>
                </a:solidFill>
                <a:latin typeface="Aptos"/>
              </a:defRPr>
            </a:pPr>
            <a:r>
              <a:t>After scraping, cleaning, and de-duplication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3337560" cy="164592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673352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E78"/>
                </a:solidFill>
                <a:latin typeface="Aptos"/>
              </a:defRPr>
            </a:pPr>
            <a:r>
              <a:t>Total Packages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417320"/>
            <a:ext cx="3337560" cy="164592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26280" y="1673352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3774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E78"/>
                </a:solidFill>
                <a:latin typeface="Aptos"/>
              </a:defRPr>
            </a:pPr>
            <a:r>
              <a:t>Destinations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1417320"/>
            <a:ext cx="3337560" cy="164592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19" y="1673352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37744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E78"/>
                </a:solidFill>
                <a:latin typeface="Aptos"/>
              </a:defRPr>
            </a:pPr>
            <a:r>
              <a:t>Data Fields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3337560" cy="164592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822192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262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E78"/>
                </a:solidFill>
                <a:latin typeface="Aptos"/>
              </a:defRPr>
            </a:pPr>
            <a:r>
              <a:t>Missing Values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566160"/>
            <a:ext cx="3337560" cy="164592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26280" y="3822192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5262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E78"/>
                </a:solidFill>
                <a:latin typeface="Aptos"/>
              </a:defRPr>
            </a:pPr>
            <a:r>
              <a:t>Duplicate Rows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59" y="3566160"/>
            <a:ext cx="3337560" cy="164592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3822192"/>
            <a:ext cx="3063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52628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646E78"/>
                </a:solidFill>
                <a:latin typeface="Aptos"/>
              </a:defRPr>
            </a:pPr>
            <a:r>
              <a:t>Rows With Valid Price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07670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Exploratory Data Analysis — Pricing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6276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C5C8C"/>
                </a:solidFill>
                <a:latin typeface="Aptos"/>
              </a:defRPr>
            </a:pPr>
            <a:r>
              <a:t>₹18,878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48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6E78"/>
                </a:solidFill>
                <a:latin typeface="Aptos"/>
              </a:defRPr>
            </a:pPr>
            <a:r>
              <a:t>Average Price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20440" y="16276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C5C8C"/>
                </a:solidFill>
                <a:latin typeface="Aptos"/>
              </a:defRPr>
            </a:pPr>
            <a:r>
              <a:t>₹16,400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2148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6E78"/>
                </a:solidFill>
                <a:latin typeface="Aptos"/>
              </a:defRPr>
            </a:pPr>
            <a:r>
              <a:t>Median Price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276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C5C8C"/>
                </a:solidFill>
                <a:latin typeface="Aptos"/>
              </a:defRPr>
            </a:pPr>
            <a:r>
              <a:t>₹2,500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48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6E78"/>
                </a:solidFill>
                <a:latin typeface="Aptos"/>
              </a:defRPr>
            </a:pPr>
            <a:r>
              <a:t>Minimum Price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371600"/>
            <a:ext cx="251460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89720" y="1627632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C5C8C"/>
                </a:solidFill>
                <a:latin typeface="Aptos"/>
              </a:defRPr>
            </a:pPr>
            <a:r>
              <a:t>₹38,500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9720" y="2148840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646E78"/>
                </a:solidFill>
                <a:latin typeface="Aptos"/>
              </a:defRPr>
            </a:pPr>
            <a:r>
              <a:t>Maximum Price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17520"/>
            <a:ext cx="5486400" cy="283464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310128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HOTEL CATEGORY MIX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Up to 3-star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51760" y="3886200"/>
            <a:ext cx="2377440" cy="201168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57800" y="384048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Up to 2-star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51760" y="4480560"/>
            <a:ext cx="1512916" cy="201168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57800" y="443484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0292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Up to 4-star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5074920"/>
            <a:ext cx="648392" cy="201168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5029200"/>
            <a:ext cx="411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3017520"/>
            <a:ext cx="48463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310128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KEY OBSERVATION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794760"/>
            <a:ext cx="4206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Prices range widely from ₹2,500 to ₹38,500. The median is below the mean, showing that a handful of high-priced, long-duration packages pull the average upward.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442543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Average Package Price by Destination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658368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AVERAGE PRICE (₹)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2148839"/>
            <a:ext cx="2082915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63640" y="2103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10375C"/>
                </a:solidFill>
                <a:latin typeface="Aptos"/>
              </a:defRPr>
            </a:pPr>
            <a:r>
              <a:t>₹14,500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7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Rajasthan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2743199"/>
            <a:ext cx="2657513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269747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10375C"/>
                </a:solidFill>
                <a:latin typeface="Aptos"/>
              </a:defRPr>
            </a:pPr>
            <a:r>
              <a:t>₹18,500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3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Himachal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3337559"/>
            <a:ext cx="3160285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32918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10375C"/>
                </a:solidFill>
                <a:latin typeface="Aptos"/>
              </a:defRPr>
            </a:pPr>
            <a:r>
              <a:t>₹22,000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Andaman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3931920"/>
            <a:ext cx="3591233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8862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10375C"/>
                </a:solidFill>
                <a:latin typeface="Aptos"/>
              </a:defRPr>
            </a:pPr>
            <a:r>
              <a:t>₹25,000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Sikkim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23160" y="4526280"/>
            <a:ext cx="3657600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44805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10375C"/>
                </a:solidFill>
                <a:latin typeface="Aptos"/>
              </a:defRPr>
            </a:pPr>
            <a:r>
              <a:t>₹25,462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Uttarakhand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5120640"/>
            <a:ext cx="1451433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50749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10375C"/>
                </a:solidFill>
                <a:latin typeface="Aptos"/>
              </a:defRPr>
            </a:pPr>
            <a:r>
              <a:t>₹10,104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79" y="1325880"/>
            <a:ext cx="3749039" cy="475488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0" y="162763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READING THE CHART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2148840"/>
            <a:ext cx="3154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32D37"/>
                </a:solidFill>
                <a:latin typeface="Aptos"/>
              </a:defRPr>
            </a:pPr>
            <a:r>
              <a:t>Sikkim has the highest average price at ₹25,462.</a:t>
            </a:r>
            <a:br/>
            <a:br/>
            <a:r>
              <a:t>Uttarakhand has the lowest average price at ₹10,104.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49625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Package Availability &amp; Trip Length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2120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27632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PACKAGES PER DESTINATION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India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606040" y="2148839"/>
            <a:ext cx="2468880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212080" y="21031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7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Rajasthan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743199"/>
            <a:ext cx="2468880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12080" y="269747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39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Himachal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06040" y="3337559"/>
            <a:ext cx="2468880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12080" y="3291839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Andaman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931920"/>
            <a:ext cx="2468880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12080" y="3886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805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Sikkim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06040" y="4526280"/>
            <a:ext cx="2468880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12080" y="44805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Uttarakhand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5120640"/>
            <a:ext cx="2468880" cy="210312"/>
          </a:xfrm>
          <a:prstGeom prst="rect">
            <a:avLst/>
          </a:prstGeom>
          <a:solidFill>
            <a:srgbClr val="1C5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2080" y="50749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325880"/>
            <a:ext cx="5074920" cy="480060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46520" y="162763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AVERAGE TRIP LENGTH (DAYS)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21031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32D37"/>
                </a:solidFill>
                <a:latin typeface="Aptos"/>
              </a:defRPr>
            </a:pPr>
            <a:r>
              <a:t>India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21031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4.29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2697479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32D37"/>
                </a:solidFill>
                <a:latin typeface="Aptos"/>
              </a:defRPr>
            </a:pPr>
            <a:r>
              <a:t>Rajasthan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75520" y="269747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5.57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91839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32D37"/>
                </a:solidFill>
                <a:latin typeface="Aptos"/>
              </a:defRPr>
            </a:pPr>
            <a:r>
              <a:t>Himachal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291839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6.57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8862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32D37"/>
                </a:solidFill>
                <a:latin typeface="Aptos"/>
              </a:defRPr>
            </a:pPr>
            <a:r>
              <a:t>Andaman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75520" y="38862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5.71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4805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32D37"/>
                </a:solidFill>
                <a:latin typeface="Aptos"/>
              </a:defRPr>
            </a:pPr>
            <a:r>
              <a:t>Sikkim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44805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5.43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749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32D37"/>
                </a:solidFill>
                <a:latin typeface="Aptos"/>
              </a:defRPr>
            </a:pPr>
            <a:r>
              <a:t>Uttarakhand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0" y="50749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10375C"/>
                </a:solidFill>
                <a:latin typeface="Aptos"/>
              </a:defRPr>
            </a:pPr>
            <a:r>
              <a:t>3.7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66928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646E78"/>
                </a:solidFill>
                <a:latin typeface="Aptos"/>
              </a:defRPr>
            </a:pPr>
            <a:r>
              <a:t>Himachal has the longest average trip.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20623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Price vs. Trip Duration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749039" cy="4389120"/>
          </a:xfrm>
          <a:prstGeom prst="roundRect">
            <a:avLst/>
          </a:prstGeom>
          <a:solidFill>
            <a:srgbClr val="10375C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5840" y="17830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0.88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4231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Aptos"/>
              </a:defRPr>
            </a:pPr>
            <a:r>
              <a:t>Correlation between price and trip duration (days)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00600" y="1371600"/>
            <a:ext cx="64008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120640" y="16916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WHAT THIS MEANS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28600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Duration is a strong driver of price — longer trips are reliably priced higher.</a:t>
            </a:r>
            <a:br/>
            <a:br/>
            <a:r>
              <a:t>Trip length can therefore be used as a practical proxy for expected package cost when comparing offers or setting pricing benchmarks.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906525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Package Inclusions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64008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INCLUSIONS CAPTURED FROM PACKAGE LISTINGS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2194560"/>
            <a:ext cx="5376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Hotel star category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944368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852928"/>
            <a:ext cx="5376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Meals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602736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3511296"/>
            <a:ext cx="5376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Transfers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261104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4169664"/>
            <a:ext cx="5376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Sightseeing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919471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4828031"/>
            <a:ext cx="53766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Other package extras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3931920" cy="452628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589520" y="166420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KEY OBSERVATION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2240280"/>
            <a:ext cx="3246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Meals and sightseeing are near-universal, appearing in about 98% of listings. Differentiation is therefore more visible in hotel star rating, transfers, and honeymoon extras.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21362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Destination-Level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5212080" cy="448056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6420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DESTINATIONS SCRAPED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15568" y="2194560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India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852928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15568" y="2761488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Rajasthan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419856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15568" y="3328415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Himachal Pradesh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986783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15568" y="3895344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Andaman &amp; Nicobar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53712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15568" y="4462272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Sikkim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2064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15568" y="5029200"/>
            <a:ext cx="43708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Uttarakhand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71600"/>
            <a:ext cx="5074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1664208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842A"/>
                </a:solidFill>
                <a:latin typeface="Aptos"/>
              </a:defRPr>
            </a:pPr>
            <a:r>
              <a:t>COMPARISON AREAS</a:t>
            </a:r>
          </a:p>
        </p:txBody>
      </p:sp>
      <p:sp>
        <p:nvSpPr>
          <p:cNvPr id="19" name="Oval 18"/>
          <p:cNvSpPr/>
          <p:nvPr/>
        </p:nvSpPr>
        <p:spPr>
          <a:xfrm>
            <a:off x="6446520" y="228600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47688" y="2194560"/>
            <a:ext cx="4187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Package availability</a:t>
            </a:r>
          </a:p>
        </p:txBody>
      </p:sp>
      <p:sp>
        <p:nvSpPr>
          <p:cNvPr id="21" name="Oval 20"/>
          <p:cNvSpPr/>
          <p:nvPr/>
        </p:nvSpPr>
        <p:spPr>
          <a:xfrm>
            <a:off x="6446520" y="2926079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47688" y="2834639"/>
            <a:ext cx="4187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Average package price</a:t>
            </a:r>
          </a:p>
        </p:txBody>
      </p:sp>
      <p:sp>
        <p:nvSpPr>
          <p:cNvPr id="23" name="Oval 22"/>
          <p:cNvSpPr/>
          <p:nvPr/>
        </p:nvSpPr>
        <p:spPr>
          <a:xfrm>
            <a:off x="6446520" y="356616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47688" y="3474720"/>
            <a:ext cx="4187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Average trip duration</a:t>
            </a:r>
          </a:p>
        </p:txBody>
      </p:sp>
      <p:sp>
        <p:nvSpPr>
          <p:cNvPr id="25" name="Oval 24"/>
          <p:cNvSpPr/>
          <p:nvPr/>
        </p:nvSpPr>
        <p:spPr>
          <a:xfrm>
            <a:off x="6446520" y="420624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47688" y="4114800"/>
            <a:ext cx="4187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Price vs. duration relationship</a:t>
            </a:r>
          </a:p>
        </p:txBody>
      </p:sp>
      <p:sp>
        <p:nvSpPr>
          <p:cNvPr id="27" name="Oval 26"/>
          <p:cNvSpPr/>
          <p:nvPr/>
        </p:nvSpPr>
        <p:spPr>
          <a:xfrm>
            <a:off x="6446520" y="4846319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647688" y="4754879"/>
            <a:ext cx="4187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Package inclusions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3675562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Business Insights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5212080" cy="123444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2842A"/>
                </a:solidFill>
                <a:latin typeface="Aptos"/>
              </a:defRPr>
            </a:pPr>
            <a:r>
              <a:t>Sikkim commands premium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92807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Highest average price: ₹25,462.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3258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37960" y="150876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2842A"/>
                </a:solidFill>
                <a:latin typeface="Aptos"/>
              </a:defRPr>
            </a:pPr>
            <a:r>
              <a:t>Uttarakhand is the value leader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892807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Lowest average price: ₹10,104 with short getaways.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34639"/>
            <a:ext cx="5212080" cy="123444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30175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2842A"/>
                </a:solidFill>
                <a:latin typeface="Aptos"/>
              </a:defRPr>
            </a:pPr>
            <a:r>
              <a:t>India-tagged packages lead in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40156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Highest package count in the raw listings.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834639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301752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2842A"/>
                </a:solidFill>
                <a:latin typeface="Aptos"/>
              </a:defRPr>
            </a:pPr>
            <a:r>
              <a:t>Duration strongly drives price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0156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Correlation with price: r = 0.88.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343400"/>
            <a:ext cx="5212080" cy="123444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4526280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F2842A"/>
                </a:solidFill>
                <a:latin typeface="Aptos"/>
              </a:defRPr>
            </a:pPr>
            <a:r>
              <a:t>Meals &amp; sightseeing are near-universal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10328"/>
            <a:ext cx="4709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232D37"/>
                </a:solidFill>
                <a:latin typeface="Aptos"/>
              </a:defRPr>
            </a:pPr>
            <a:r>
              <a:t>Present in about 98% of listings.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3514212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71600"/>
            <a:ext cx="10607040" cy="452628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9164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2842A"/>
                </a:solidFill>
                <a:latin typeface="Aptos"/>
              </a:defRPr>
            </a:pPr>
            <a:r>
              <a:t>RECOMMENDATION: TIERED DESTINATION STRATEGY</a:t>
            </a:r>
          </a:p>
        </p:txBody>
      </p:sp>
      <p:sp>
        <p:nvSpPr>
          <p:cNvPr id="5" name="Oval 4"/>
          <p:cNvSpPr/>
          <p:nvPr/>
        </p:nvSpPr>
        <p:spPr>
          <a:xfrm>
            <a:off x="1005840" y="251460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7008" y="2423160"/>
            <a:ext cx="9491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Position higher-priced destinations such as Sikkim as premium or curated offerings.</a:t>
            </a:r>
          </a:p>
        </p:txBody>
      </p:sp>
      <p:sp>
        <p:nvSpPr>
          <p:cNvPr id="7" name="Oval 6"/>
          <p:cNvSpPr/>
          <p:nvPr/>
        </p:nvSpPr>
        <p:spPr>
          <a:xfrm>
            <a:off x="1005840" y="3127248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8" y="3035808"/>
            <a:ext cx="9491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Use shorter, lower-priced destinations such as Uttarakhand for budget and weekend-trip campaigns.</a:t>
            </a:r>
          </a:p>
        </p:txBody>
      </p:sp>
      <p:sp>
        <p:nvSpPr>
          <p:cNvPr id="9" name="Oval 8"/>
          <p:cNvSpPr/>
          <p:nvPr/>
        </p:nvSpPr>
        <p:spPr>
          <a:xfrm>
            <a:off x="1005840" y="3739896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07008" y="3648456"/>
            <a:ext cx="9491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Use trip duration as a quick benchmark when designing or comparing package prices.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" y="4352544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207008" y="4261104"/>
            <a:ext cx="9491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Differentiate packages through hotel category, transfers, and honeymoon extras where core inclusions are common.</a:t>
            </a:r>
          </a:p>
        </p:txBody>
      </p:sp>
      <p:sp>
        <p:nvSpPr>
          <p:cNvPr id="13" name="Oval 12"/>
          <p:cNvSpPr/>
          <p:nvPr/>
        </p:nvSpPr>
        <p:spPr>
          <a:xfrm>
            <a:off x="1005840" y="4965192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207008" y="4873752"/>
            <a:ext cx="9491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2D37"/>
                </a:solidFill>
                <a:latin typeface="Aptos"/>
              </a:defRPr>
            </a:pPr>
            <a:r>
              <a:t>Pair budget destinations with premium destinations in cross-sell bundles.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50629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Tools &amp; 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59" y="16459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375C"/>
                </a:solidFill>
                <a:latin typeface="Aptos"/>
              </a:defRPr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2402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46E78"/>
                </a:solidFill>
                <a:latin typeface="Aptos"/>
              </a:defRPr>
            </a:pPr>
            <a:r>
              <a:t>Core scripting language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3716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375C"/>
                </a:solidFill>
                <a:latin typeface="Aptos"/>
              </a:defRPr>
            </a:pPr>
            <a:r>
              <a:t>Requests + BeautifulSoup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2402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46E78"/>
                </a:solidFill>
                <a:latin typeface="Aptos"/>
              </a:defRPr>
            </a:pPr>
            <a:r>
              <a:t>HTML fetching &amp; parsing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137160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21039" y="1645920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375C"/>
                </a:solidFill>
                <a:latin typeface="Aptos"/>
              </a:defRPr>
            </a:pPr>
            <a:r>
              <a:t>Pandas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39" y="224028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46E78"/>
                </a:solidFill>
                <a:latin typeface="Aptos"/>
              </a:defRPr>
            </a:pPr>
            <a:r>
              <a:t>Cleaning, transformation, EDA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4747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374903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375C"/>
                </a:solidFill>
                <a:latin typeface="Aptos"/>
              </a:defRPr>
            </a:pPr>
            <a:r>
              <a:t>Matplotlib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4343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46E78"/>
                </a:solidFill>
                <a:latin typeface="Aptos"/>
              </a:defRPr>
            </a:pPr>
            <a:r>
              <a:t>Exploratory charts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4747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374903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375C"/>
                </a:solidFill>
                <a:latin typeface="Aptos"/>
              </a:defRPr>
            </a:pPr>
            <a:r>
              <a:t>Excel / CSV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343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46E78"/>
                </a:solidFill>
                <a:latin typeface="Aptos"/>
              </a:defRPr>
            </a:pPr>
            <a:r>
              <a:t>Structured dataset export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59" y="3474720"/>
            <a:ext cx="333756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39" y="3749039"/>
            <a:ext cx="2971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375C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39" y="4343400"/>
            <a:ext cx="2971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646E78"/>
                </a:solidFill>
                <a:latin typeface="Aptos"/>
              </a:defRPr>
            </a:pPr>
            <a:r>
              <a:t>Interactive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706164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Challenges Faced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155448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" y="1463040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Extracting consistent package rows from semi-structured HTML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219456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Parsing currency-formatted prices into numeric values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83464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743200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Separating nights and days from raw duration text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7472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383279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Removing scraper-generated headers and duplicates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11480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023360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Handling missing URLs and unrecoverable values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754879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24128" y="4663440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Consolidating six destination scrapes into one analysis-ready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63585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Project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81432"/>
            <a:ext cx="10515600" cy="4389120"/>
          </a:xfrm>
          <a:prstGeom prst="roundRect">
            <a:avLst/>
          </a:prstGeom>
          <a:solidFill>
            <a:srgbClr val="DEEBF7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" y="192024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07008" y="1828800"/>
            <a:ext cx="958291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The analysis covers 42 cleaned package listings from six destinations.</a:t>
            </a:r>
          </a:p>
        </p:txBody>
      </p:sp>
      <p:sp>
        <p:nvSpPr>
          <p:cNvPr id="6" name="Oval 5"/>
          <p:cNvSpPr/>
          <p:nvPr/>
        </p:nvSpPr>
        <p:spPr>
          <a:xfrm>
            <a:off x="1005840" y="2670048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07008" y="2578608"/>
            <a:ext cx="958291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The dataset reflects the package information captured from the scraped listing pages.</a:t>
            </a:r>
          </a:p>
        </p:txBody>
      </p:sp>
      <p:sp>
        <p:nvSpPr>
          <p:cNvPr id="8" name="Oval 7"/>
          <p:cNvSpPr/>
          <p:nvPr/>
        </p:nvSpPr>
        <p:spPr>
          <a:xfrm>
            <a:off x="1005840" y="3419856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07008" y="3328415"/>
            <a:ext cx="958291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Price analysis is based on listed package prices and does not include a historical price series.</a:t>
            </a:r>
          </a:p>
        </p:txBody>
      </p:sp>
      <p:sp>
        <p:nvSpPr>
          <p:cNvPr id="10" name="Oval 9"/>
          <p:cNvSpPr/>
          <p:nvPr/>
        </p:nvSpPr>
        <p:spPr>
          <a:xfrm>
            <a:off x="1005840" y="4169663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07008" y="4078224"/>
            <a:ext cx="958291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The correlation describes the relationship in this dataset; it does not by itself establish causation.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19088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685318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375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10607040" cy="4663440"/>
          </a:xfrm>
          <a:prstGeom prst="roundRect">
            <a:avLst/>
          </a:prstGeom>
          <a:solidFill>
            <a:srgbClr val="E8F2FA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828800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61288" y="1737360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Successfully collected and structured TravelTriangle tour-package data using web scraping.</a:t>
            </a:r>
          </a:p>
        </p:txBody>
      </p:sp>
      <p:sp>
        <p:nvSpPr>
          <p:cNvPr id="6" name="Oval 5"/>
          <p:cNvSpPr/>
          <p:nvPr/>
        </p:nvSpPr>
        <p:spPr>
          <a:xfrm>
            <a:off x="960120" y="2542032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61288" y="2450591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rPr dirty="0"/>
              <a:t>Created a cleaned dataset containing 42 rows and 9 fields.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3255264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3163824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Analyzed destination pricing, trip duration, package availability, and inclusions.</a:t>
            </a:r>
          </a:p>
        </p:txBody>
      </p:sp>
      <p:sp>
        <p:nvSpPr>
          <p:cNvPr id="10" name="Oval 9"/>
          <p:cNvSpPr/>
          <p:nvPr/>
        </p:nvSpPr>
        <p:spPr>
          <a:xfrm>
            <a:off x="960120" y="3968496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61288" y="3877056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Found a strong relationship between trip duration and package price (r = 0.88).</a:t>
            </a:r>
          </a:p>
        </p:txBody>
      </p:sp>
      <p:sp>
        <p:nvSpPr>
          <p:cNvPr id="12" name="Oval 11"/>
          <p:cNvSpPr/>
          <p:nvPr/>
        </p:nvSpPr>
        <p:spPr>
          <a:xfrm>
            <a:off x="960120" y="4681727"/>
            <a:ext cx="91440" cy="91440"/>
          </a:xfrm>
          <a:prstGeom prst="ellipse">
            <a:avLst/>
          </a:prstGeom>
          <a:solidFill>
            <a:srgbClr val="F284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61288" y="4590288"/>
            <a:ext cx="9674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Converted raw web data into business-focused insights and recommendations.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09256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46E78"/>
                </a:solidFill>
                <a:latin typeface="Aptos"/>
              </a:defRPr>
            </a:pPr>
            <a:r>
              <a:t>TravelTriangle Web Scraping &amp; Data Analytics 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0080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46E78"/>
                </a:solidFill>
                <a:latin typeface="Aptos"/>
              </a:defRPr>
            </a:pPr>
            <a: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611510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9818" y="2143297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TextBox 116"/>
          <p:cNvSpPr txBox="1"/>
          <p:nvPr/>
        </p:nvSpPr>
        <p:spPr>
          <a:xfrm>
            <a:off x="-2032450" y="3217556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0375C"/>
                </a:solidFill>
                <a:latin typeface="Aptos Display"/>
              </a:defRPr>
            </a:pPr>
            <a:r>
              <a:rPr dirty="0"/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1346</Words>
  <Application>Microsoft Office PowerPoint</Application>
  <PresentationFormat>Widescreen</PresentationFormat>
  <Paragraphs>288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Cambria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Bidyashree Panda</cp:lastModifiedBy>
  <cp:revision>5</cp:revision>
  <dcterms:created xsi:type="dcterms:W3CDTF">2021-02-16T05:19:01Z</dcterms:created>
  <dcterms:modified xsi:type="dcterms:W3CDTF">2026-09-23T12:14:45Z</dcterms:modified>
</cp:coreProperties>
</file>